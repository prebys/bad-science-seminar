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7"/>
  </p:notesMasterIdLst>
  <p:handoutMasterIdLst>
    <p:handoutMasterId r:id="rId8"/>
  </p:handoutMasterIdLst>
  <p:sldIdLst>
    <p:sldId id="271" r:id="rId2"/>
    <p:sldId id="432" r:id="rId3"/>
    <p:sldId id="429" r:id="rId4"/>
    <p:sldId id="431" r:id="rId5"/>
    <p:sldId id="282" r:id="rId6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38">
          <p15:clr>
            <a:srgbClr val="A4A3A4"/>
          </p15:clr>
        </p15:guide>
        <p15:guide id="2">
          <p15:clr>
            <a:srgbClr val="A4A3A4"/>
          </p15:clr>
        </p15:guide>
        <p15:guide id="3" orient="horz" pos="42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17" d="100"/>
          <a:sy n="117" d="100"/>
        </p:scale>
        <p:origin x="1696" y="16"/>
      </p:cViewPr>
      <p:guideLst>
        <p:guide orient="horz" pos="4238"/>
        <p:guide/>
        <p:guide orient="horz" pos="42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J Prebys" userId="2423660181_tp_box_2" providerId="OAuth2" clId="{7A5D5A21-A55B-52FD-95D2-896217ECBE7C}"/>
    <pc:docChg chg="modSld">
      <pc:chgData name="Eric J Prebys" userId="2423660181_tp_box_2" providerId="OAuth2" clId="{7A5D5A21-A55B-52FD-95D2-896217ECBE7C}" dt="2025-08-30T16:39:13.946" v="79" actId="20577"/>
      <pc:docMkLst>
        <pc:docMk/>
      </pc:docMkLst>
      <pc:sldChg chg="modSp mod">
        <pc:chgData name="Eric J Prebys" userId="2423660181_tp_box_2" providerId="OAuth2" clId="{7A5D5A21-A55B-52FD-95D2-896217ECBE7C}" dt="2025-08-30T16:39:13.946" v="79" actId="20577"/>
        <pc:sldMkLst>
          <pc:docMk/>
          <pc:sldMk cId="2887280858" sldId="432"/>
        </pc:sldMkLst>
        <pc:spChg chg="mod">
          <ac:chgData name="Eric J Prebys" userId="2423660181_tp_box_2" providerId="OAuth2" clId="{7A5D5A21-A55B-52FD-95D2-896217ECBE7C}" dt="2025-08-30T16:39:13.946" v="79" actId="20577"/>
          <ac:spMkLst>
            <pc:docMk/>
            <pc:sldMk cId="2887280858" sldId="432"/>
            <ac:spMk id="3" creationId="{168A2AB3-8B01-C9A5-49EA-97AD4ECBB5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P118 - 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Overview, E. Prebys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P118 - 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Overview, E. Prebys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Overview, E. Prebys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P118 Overview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9D53-02F6-D242-957E-CCBC8313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A2AB3-8B01-C9A5-49EA-97AD4ECBB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9/24: Introduction and Goals</a:t>
            </a:r>
          </a:p>
          <a:p>
            <a:r>
              <a:rPr lang="en-US" dirty="0"/>
              <a:t>10/1: Lies, Damned Lies, and Statistics</a:t>
            </a:r>
          </a:p>
          <a:p>
            <a:r>
              <a:rPr lang="en-US" dirty="0"/>
              <a:t>10/8: Energy: No Such Thing as a Free Lunch</a:t>
            </a:r>
          </a:p>
          <a:p>
            <a:r>
              <a:rPr lang="en-US" dirty="0"/>
              <a:t>10/15: Bad Medicine</a:t>
            </a:r>
          </a:p>
          <a:p>
            <a:r>
              <a:rPr lang="en-US" dirty="0"/>
              <a:t>10/22: Worse Medicine</a:t>
            </a:r>
          </a:p>
          <a:p>
            <a:r>
              <a:rPr lang="en-US" dirty="0"/>
              <a:t>10/29: Criminally Bad Forensic Science</a:t>
            </a:r>
          </a:p>
          <a:p>
            <a:r>
              <a:rPr lang="en-US" dirty="0"/>
              <a:t>11/5: Bad Science in the Service of Racism</a:t>
            </a:r>
          </a:p>
          <a:p>
            <a:r>
              <a:rPr lang="en-US" dirty="0"/>
              <a:t>11/12: Satanic Panic, </a:t>
            </a:r>
            <a:r>
              <a:rPr lang="en-US" dirty="0" err="1"/>
              <a:t>etc</a:t>
            </a:r>
            <a:r>
              <a:rPr lang="en-US" dirty="0"/>
              <a:t>: Science Bearing False Witness</a:t>
            </a:r>
          </a:p>
          <a:p>
            <a:r>
              <a:rPr lang="en-US" dirty="0"/>
              <a:t>11/19: Spooky Bad Paranormal Studies</a:t>
            </a:r>
          </a:p>
          <a:p>
            <a:r>
              <a:rPr lang="en-US" dirty="0"/>
              <a:t>11/26: The Media and Science: Friends or Foes?</a:t>
            </a:r>
          </a:p>
          <a:p>
            <a:r>
              <a:rPr lang="en-US" dirty="0"/>
              <a:t>12/3: Climate Studies: When Science and Politics Mix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8A03B-02EC-B229-C1D0-4F0B6E9A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E4DCB-1EEB-DFA8-472A-0A39863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74BFC-C72D-8FFF-319A-1424562E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80858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521" y="111814"/>
            <a:ext cx="8229600" cy="990600"/>
          </a:xfrm>
        </p:spPr>
        <p:txBody>
          <a:bodyPr/>
          <a:lstStyle/>
          <a:p>
            <a:r>
              <a:rPr lang="en-US" dirty="0"/>
              <a:t>My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674" y="891928"/>
            <a:ext cx="6999666" cy="586075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1984: BS in Engineering Physics, University of Arizona</a:t>
            </a:r>
          </a:p>
          <a:p>
            <a:pPr lvl="1"/>
            <a:r>
              <a:rPr lang="en-US" dirty="0"/>
              <a:t>Got a job in an HEP group after being fired from a gas station.</a:t>
            </a:r>
          </a:p>
          <a:p>
            <a:r>
              <a:rPr lang="en-US" dirty="0"/>
              <a:t>1984-1990: Grad Student, University of Rochester</a:t>
            </a:r>
          </a:p>
          <a:p>
            <a:pPr lvl="1"/>
            <a:r>
              <a:rPr lang="en-US" dirty="0"/>
              <a:t>PhD topic: Direct Photon Production in </a:t>
            </a:r>
            <a:r>
              <a:rPr lang="en-US" dirty="0" err="1"/>
              <a:t>Hadronic</a:t>
            </a:r>
            <a:r>
              <a:rPr lang="en-US" dirty="0"/>
              <a:t> Interactions</a:t>
            </a:r>
          </a:p>
          <a:p>
            <a:r>
              <a:rPr lang="en-US" dirty="0"/>
              <a:t>1990-1992: CERN Fellow, CERN</a:t>
            </a:r>
          </a:p>
          <a:p>
            <a:pPr lvl="1"/>
            <a:r>
              <a:rPr lang="en-US" dirty="0"/>
              <a:t>Studied </a:t>
            </a:r>
            <a:r>
              <a:rPr lang="en-US" dirty="0" err="1"/>
              <a:t>e+e</a:t>
            </a:r>
            <a:r>
              <a:rPr lang="en-US" dirty="0"/>
              <a:t>- reactions on the OPAL Experiment at LEP</a:t>
            </a:r>
          </a:p>
          <a:p>
            <a:r>
              <a:rPr lang="en-US" dirty="0"/>
              <a:t>1992-2001: Postdoc and Assistant Professor, Princeton U.</a:t>
            </a:r>
          </a:p>
          <a:p>
            <a:pPr lvl="1"/>
            <a:r>
              <a:rPr lang="en-US" dirty="0"/>
              <a:t>GEM Experiment at the Superconducting Super Collider </a:t>
            </a:r>
          </a:p>
          <a:p>
            <a:pPr lvl="1"/>
            <a:r>
              <a:rPr lang="en-US" dirty="0"/>
              <a:t>Belle CP Violation Experiment at KEK, Japan</a:t>
            </a:r>
          </a:p>
          <a:p>
            <a:pPr lvl="1"/>
            <a:r>
              <a:rPr lang="en-US" dirty="0"/>
              <a:t>Nonlinear QED in E-144 Experiment at SLAC</a:t>
            </a:r>
          </a:p>
          <a:p>
            <a:r>
              <a:rPr lang="en-US" dirty="0"/>
              <a:t>2001-2017: Scientist, Fermilab</a:t>
            </a:r>
          </a:p>
          <a:p>
            <a:pPr lvl="1"/>
            <a:r>
              <a:rPr lang="en-US" dirty="0" err="1"/>
              <a:t>MiniBooNE</a:t>
            </a:r>
            <a:r>
              <a:rPr lang="en-US" dirty="0"/>
              <a:t> short baseline neutrino oscillation experiment</a:t>
            </a:r>
          </a:p>
          <a:p>
            <a:pPr lvl="1"/>
            <a:r>
              <a:rPr lang="en-US" dirty="0"/>
              <a:t>Proton Source Department Head</a:t>
            </a:r>
          </a:p>
          <a:p>
            <a:pPr lvl="1"/>
            <a:r>
              <a:rPr lang="en-US" dirty="0"/>
              <a:t>Director of LHC Accelerator Research Program (LARP)</a:t>
            </a:r>
          </a:p>
          <a:p>
            <a:pPr lvl="1"/>
            <a:r>
              <a:rPr lang="en-US" dirty="0"/>
              <a:t>Mu2e rare </a:t>
            </a:r>
            <a:r>
              <a:rPr lang="en-US" dirty="0" err="1"/>
              <a:t>muon</a:t>
            </a:r>
            <a:r>
              <a:rPr lang="en-US" dirty="0"/>
              <a:t> conversion experiment</a:t>
            </a:r>
          </a:p>
          <a:p>
            <a:pPr lvl="1"/>
            <a:r>
              <a:rPr lang="en-US" dirty="0"/>
              <a:t>Created Lee </a:t>
            </a:r>
            <a:r>
              <a:rPr lang="en-US" dirty="0" err="1"/>
              <a:t>Teng</a:t>
            </a:r>
            <a:r>
              <a:rPr lang="en-US" dirty="0"/>
              <a:t> Internship and ran it for 10 years</a:t>
            </a:r>
          </a:p>
          <a:p>
            <a:r>
              <a:rPr lang="en-US" dirty="0"/>
              <a:t>2017-present, Professor, UC Davis</a:t>
            </a:r>
          </a:p>
          <a:p>
            <a:pPr lvl="1"/>
            <a:r>
              <a:rPr lang="en-US" dirty="0"/>
              <a:t>Mu2e</a:t>
            </a:r>
          </a:p>
          <a:p>
            <a:pPr lvl="1"/>
            <a:r>
              <a:rPr lang="en-US" dirty="0"/>
              <a:t>Director, Crocker Nuclear Laboratory (cyclotron)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7195519" y="1212590"/>
            <a:ext cx="353945" cy="265195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>
            <a:off x="7203636" y="3987272"/>
            <a:ext cx="353761" cy="259445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643154" y="2131219"/>
            <a:ext cx="1311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+mn-lt"/>
              </a:rPr>
              <a:t>Experimental HEP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0451" y="4917465"/>
            <a:ext cx="13243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+mn-lt"/>
              </a:rPr>
              <a:t>Accelerator Physics and HEP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0107" y="3095991"/>
            <a:ext cx="312319" cy="2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31103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 descr="rochester 9.00.39 AM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187" y="611977"/>
            <a:ext cx="3497666" cy="52930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024" y="5966805"/>
            <a:ext cx="342732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Fermilab E-706 Rochester Group</a:t>
            </a:r>
          </a:p>
          <a:p>
            <a:pPr algn="ctr"/>
            <a:r>
              <a:rPr lang="en-US" sz="1600" dirty="0">
                <a:latin typeface="+mn-lt"/>
              </a:rPr>
              <a:t>~1987</a:t>
            </a:r>
          </a:p>
        </p:txBody>
      </p:sp>
      <p:pic>
        <p:nvPicPr>
          <p:cNvPr id="11" name="Picture 10" descr="rochester 9.00.39 AM-001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0231" y="729344"/>
            <a:ext cx="1971316" cy="2699656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>
            <a:off x="2340987" y="2646813"/>
            <a:ext cx="2249183" cy="10097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06979" y="3429000"/>
            <a:ext cx="994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Me</a:t>
            </a: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 flipH="1">
            <a:off x="5445509" y="1595545"/>
            <a:ext cx="1497456" cy="44929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54367" y="1298566"/>
            <a:ext cx="231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+mn-lt"/>
              </a:rPr>
              <a:t>“Buck’s River Road Exxon”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3834D9-9781-4336-8073-5B40CE9B26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251"/>
          <a:stretch/>
        </p:blipFill>
        <p:spPr>
          <a:xfrm>
            <a:off x="4520911" y="4681030"/>
            <a:ext cx="1966671" cy="1410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194940-CFB0-454B-A59D-EF0363D90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432" y="4681030"/>
            <a:ext cx="2371072" cy="14109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4CF8-B772-4681-A358-F495BC66D14F}"/>
              </a:ext>
            </a:extLst>
          </p:cNvPr>
          <p:cNvSpPr txBox="1"/>
          <p:nvPr/>
        </p:nvSpPr>
        <p:spPr>
          <a:xfrm>
            <a:off x="4883340" y="4305999"/>
            <a:ext cx="3414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Kwan Lai, the guy that hired 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3B7A63-3BC8-4E7F-9791-26969361B22A}"/>
              </a:ext>
            </a:extLst>
          </p:cNvPr>
          <p:cNvSpPr txBox="1"/>
          <p:nvPr/>
        </p:nvSpPr>
        <p:spPr>
          <a:xfrm>
            <a:off x="4423568" y="6105304"/>
            <a:ext cx="1888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Then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1A4019-577B-4897-A951-0626080D8ABF}"/>
              </a:ext>
            </a:extLst>
          </p:cNvPr>
          <p:cNvSpPr txBox="1"/>
          <p:nvPr/>
        </p:nvSpPr>
        <p:spPr>
          <a:xfrm>
            <a:off x="6793349" y="6089035"/>
            <a:ext cx="1888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Recent</a:t>
            </a:r>
          </a:p>
        </p:txBody>
      </p:sp>
    </p:spTree>
    <p:extLst>
      <p:ext uri="{BB962C8B-B14F-4D97-AF65-F5344CB8AC3E}">
        <p14:creationId xmlns:p14="http://schemas.microsoft.com/office/powerpoint/2010/main" val="27650496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2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39C11-3943-6F47-A654-DEA01F4B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Comments on 118 vs. 117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ED5D9-70ED-EE49-B2EF-331280FC3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significantly less math and physics in 118 than in 117, at least at the beginning,  but it has its own complexities</a:t>
            </a:r>
          </a:p>
          <a:p>
            <a:r>
              <a:rPr lang="en-US" dirty="0"/>
              <a:t>Once we transition to FPGA and SoC design, students with programming experience – particularly in C or Java – will have a significant advantage.</a:t>
            </a:r>
          </a:p>
          <a:p>
            <a:r>
              <a:rPr lang="en-US" dirty="0"/>
              <a:t>Don’t be afraid to speak up if you’re having problems!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CA19D-8177-554D-BD7B-8FE28AB0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P118 - Winter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A22D6-A801-3C41-B94B-0D47E02F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Overview, E. Prebys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C3CBE-B1D4-B145-AE19-6EF2059E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9199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19908</TotalTime>
  <Words>375</Words>
  <Application>Microsoft Macintosh PowerPoint</Application>
  <PresentationFormat>On-screen Show (4:3)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Clarity</vt:lpstr>
      <vt:lpstr>P118 Overview</vt:lpstr>
      <vt:lpstr>Lectures</vt:lpstr>
      <vt:lpstr>My Background</vt:lpstr>
      <vt:lpstr>PowerPoint Presentation</vt:lpstr>
      <vt:lpstr>General Comments on 118 vs. 117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Prebys</cp:lastModifiedBy>
  <cp:revision>628</cp:revision>
  <cp:lastPrinted>2024-01-08T17:27:03Z</cp:lastPrinted>
  <dcterms:created xsi:type="dcterms:W3CDTF">2003-06-24T14:15:57Z</dcterms:created>
  <dcterms:modified xsi:type="dcterms:W3CDTF">2025-08-30T16:39:23Z</dcterms:modified>
</cp:coreProperties>
</file>