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4624" r:id="rId1"/>
  </p:sldMasterIdLst>
  <p:notesMasterIdLst>
    <p:notesMasterId r:id="rId24"/>
  </p:notesMasterIdLst>
  <p:handoutMasterIdLst>
    <p:handoutMasterId r:id="rId25"/>
  </p:handoutMasterIdLst>
  <p:sldIdLst>
    <p:sldId id="300" r:id="rId2"/>
    <p:sldId id="301" r:id="rId3"/>
    <p:sldId id="302" r:id="rId4"/>
    <p:sldId id="303" r:id="rId5"/>
    <p:sldId id="305" r:id="rId6"/>
    <p:sldId id="306" r:id="rId7"/>
    <p:sldId id="307" r:id="rId8"/>
    <p:sldId id="308" r:id="rId9"/>
    <p:sldId id="310" r:id="rId10"/>
    <p:sldId id="313" r:id="rId11"/>
    <p:sldId id="273" r:id="rId12"/>
    <p:sldId id="279" r:id="rId13"/>
    <p:sldId id="275" r:id="rId14"/>
    <p:sldId id="276" r:id="rId15"/>
    <p:sldId id="283" r:id="rId16"/>
    <p:sldId id="309" r:id="rId17"/>
    <p:sldId id="284" r:id="rId18"/>
    <p:sldId id="285" r:id="rId19"/>
    <p:sldId id="286" r:id="rId20"/>
    <p:sldId id="287" r:id="rId21"/>
    <p:sldId id="311" r:id="rId22"/>
    <p:sldId id="312" r:id="rId23"/>
  </p:sldIdLst>
  <p:sldSz cx="9144000" cy="6858000" type="screen4x3"/>
  <p:notesSz cx="6858000" cy="9144000"/>
  <p:custDataLst>
    <p:tags r:id="rId26"/>
  </p:custDataLst>
  <p:defaultTextStyle>
    <a:defPPr>
      <a:defRPr lang="en-US"/>
    </a:defPPr>
    <a:lvl1pPr algn="l" rtl="0" fontAlgn="base">
      <a:spcBef>
        <a:spcPct val="0"/>
      </a:spcBef>
      <a:spcAft>
        <a:spcPct val="0"/>
      </a:spcAft>
      <a:defRPr sz="3200" kern="1200">
        <a:solidFill>
          <a:schemeClr val="tx1"/>
        </a:solidFill>
        <a:latin typeface="Times New Roman" pitchFamily="18" charset="0"/>
        <a:ea typeface="+mn-ea"/>
        <a:cs typeface="+mn-cs"/>
      </a:defRPr>
    </a:lvl1pPr>
    <a:lvl2pPr marL="457200" algn="l" rtl="0" fontAlgn="base">
      <a:spcBef>
        <a:spcPct val="0"/>
      </a:spcBef>
      <a:spcAft>
        <a:spcPct val="0"/>
      </a:spcAft>
      <a:defRPr sz="3200" kern="1200">
        <a:solidFill>
          <a:schemeClr val="tx1"/>
        </a:solidFill>
        <a:latin typeface="Times New Roman" pitchFamily="18" charset="0"/>
        <a:ea typeface="+mn-ea"/>
        <a:cs typeface="+mn-cs"/>
      </a:defRPr>
    </a:lvl2pPr>
    <a:lvl3pPr marL="914400" algn="l" rtl="0" fontAlgn="base">
      <a:spcBef>
        <a:spcPct val="0"/>
      </a:spcBef>
      <a:spcAft>
        <a:spcPct val="0"/>
      </a:spcAft>
      <a:defRPr sz="3200" kern="1200">
        <a:solidFill>
          <a:schemeClr val="tx1"/>
        </a:solidFill>
        <a:latin typeface="Times New Roman" pitchFamily="18" charset="0"/>
        <a:ea typeface="+mn-ea"/>
        <a:cs typeface="+mn-cs"/>
      </a:defRPr>
    </a:lvl3pPr>
    <a:lvl4pPr marL="1371600" algn="l" rtl="0" fontAlgn="base">
      <a:spcBef>
        <a:spcPct val="0"/>
      </a:spcBef>
      <a:spcAft>
        <a:spcPct val="0"/>
      </a:spcAft>
      <a:defRPr sz="3200" kern="1200">
        <a:solidFill>
          <a:schemeClr val="tx1"/>
        </a:solidFill>
        <a:latin typeface="Times New Roman" pitchFamily="18" charset="0"/>
        <a:ea typeface="+mn-ea"/>
        <a:cs typeface="+mn-cs"/>
      </a:defRPr>
    </a:lvl4pPr>
    <a:lvl5pPr marL="1828800" algn="l" rtl="0" fontAlgn="base">
      <a:spcBef>
        <a:spcPct val="0"/>
      </a:spcBef>
      <a:spcAft>
        <a:spcPct val="0"/>
      </a:spcAft>
      <a:defRPr sz="3200" kern="1200">
        <a:solidFill>
          <a:schemeClr val="tx1"/>
        </a:solidFill>
        <a:latin typeface="Times New Roman" pitchFamily="18" charset="0"/>
        <a:ea typeface="+mn-ea"/>
        <a:cs typeface="+mn-cs"/>
      </a:defRPr>
    </a:lvl5pPr>
    <a:lvl6pPr marL="2286000" algn="l" defTabSz="914400" rtl="0" eaLnBrk="1" latinLnBrk="0" hangingPunct="1">
      <a:defRPr sz="3200" kern="1200">
        <a:solidFill>
          <a:schemeClr val="tx1"/>
        </a:solidFill>
        <a:latin typeface="Times New Roman" pitchFamily="18" charset="0"/>
        <a:ea typeface="+mn-ea"/>
        <a:cs typeface="+mn-cs"/>
      </a:defRPr>
    </a:lvl6pPr>
    <a:lvl7pPr marL="2743200" algn="l" defTabSz="914400" rtl="0" eaLnBrk="1" latinLnBrk="0" hangingPunct="1">
      <a:defRPr sz="3200" kern="1200">
        <a:solidFill>
          <a:schemeClr val="tx1"/>
        </a:solidFill>
        <a:latin typeface="Times New Roman" pitchFamily="18" charset="0"/>
        <a:ea typeface="+mn-ea"/>
        <a:cs typeface="+mn-cs"/>
      </a:defRPr>
    </a:lvl7pPr>
    <a:lvl8pPr marL="3200400" algn="l" defTabSz="914400" rtl="0" eaLnBrk="1" latinLnBrk="0" hangingPunct="1">
      <a:defRPr sz="3200" kern="1200">
        <a:solidFill>
          <a:schemeClr val="tx1"/>
        </a:solidFill>
        <a:latin typeface="Times New Roman" pitchFamily="18" charset="0"/>
        <a:ea typeface="+mn-ea"/>
        <a:cs typeface="+mn-cs"/>
      </a:defRPr>
    </a:lvl8pPr>
    <a:lvl9pPr marL="3657600" algn="l" defTabSz="914400" rtl="0" eaLnBrk="1" latinLnBrk="0" hangingPunct="1">
      <a:defRPr sz="3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4238">
          <p15:clr>
            <a:srgbClr val="A4A3A4"/>
          </p15:clr>
        </p15:guide>
        <p15:guide id="2" pos="5208" userDrawn="1">
          <p15:clr>
            <a:srgbClr val="A4A3A4"/>
          </p15:clr>
        </p15:guide>
        <p15:guide id="3" orient="horz" pos="4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F3F3F3"/>
    <a:srgbClr val="FD6F7D"/>
    <a:srgbClr val="008000"/>
    <a:srgbClr val="CC3399"/>
    <a:srgbClr val="FF9933"/>
    <a:srgbClr val="FF9966"/>
    <a:srgbClr val="33CC33"/>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8"/>
    <p:restoredTop sz="94694"/>
  </p:normalViewPr>
  <p:slideViewPr>
    <p:cSldViewPr snapToGrid="0">
      <p:cViewPr varScale="1">
        <p:scale>
          <a:sx n="117" d="100"/>
          <a:sy n="117" d="100"/>
        </p:scale>
        <p:origin x="1696" y="168"/>
      </p:cViewPr>
      <p:guideLst>
        <p:guide orient="horz" pos="4238"/>
        <p:guide pos="5208"/>
        <p:guide orient="horz" pos="41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5D641E0-C0FB-FB45-BE20-B5E285E46BDA}" type="datetimeFigureOut">
              <a:rPr lang="en-US" smtClean="0"/>
              <a:t>10/8/25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2CD667F-4C0A-F045-9861-4468224AED64}" type="slidenum">
              <a:rPr lang="en-US" smtClean="0"/>
              <a:t>‹#›</a:t>
            </a:fld>
            <a:endParaRPr lang="en-US"/>
          </a:p>
        </p:txBody>
      </p:sp>
    </p:spTree>
    <p:extLst>
      <p:ext uri="{BB962C8B-B14F-4D97-AF65-F5344CB8AC3E}">
        <p14:creationId xmlns:p14="http://schemas.microsoft.com/office/powerpoint/2010/main" val="364359655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76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40E8FAF-0EB9-4F3C-9D18-30F5214B3A3C}" type="slidenum">
              <a:rPr lang="en-US"/>
              <a:pPr>
                <a:defRPr/>
              </a:pPr>
              <a:t>‹#›</a:t>
            </a:fld>
            <a:endParaRPr lang="en-US"/>
          </a:p>
        </p:txBody>
      </p:sp>
    </p:spTree>
    <p:extLst>
      <p:ext uri="{BB962C8B-B14F-4D97-AF65-F5344CB8AC3E}">
        <p14:creationId xmlns:p14="http://schemas.microsoft.com/office/powerpoint/2010/main" val="142916878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448882"/>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5582482"/>
            <a:ext cx="6400800" cy="554404"/>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FRS-003-009 - Fall 2025</a:t>
            </a:r>
          </a:p>
        </p:txBody>
      </p:sp>
      <p:sp>
        <p:nvSpPr>
          <p:cNvPr id="5" name="Footer Placeholder 4"/>
          <p:cNvSpPr>
            <a:spLocks noGrp="1"/>
          </p:cNvSpPr>
          <p:nvPr>
            <p:ph type="ftr" sz="quarter" idx="11"/>
          </p:nvPr>
        </p:nvSpPr>
        <p:spPr/>
        <p:txBody>
          <a:bodyPr/>
          <a:lstStyle/>
          <a:p>
            <a:r>
              <a:rPr lang="en-US"/>
              <a:t>LIes, Damned Lies, and Statistics</a:t>
            </a:r>
          </a:p>
        </p:txBody>
      </p:sp>
      <p:sp>
        <p:nvSpPr>
          <p:cNvPr id="6" name="Slide Number Placeholder 5"/>
          <p:cNvSpPr>
            <a:spLocks noGrp="1"/>
          </p:cNvSpPr>
          <p:nvPr>
            <p:ph type="sldNum" sz="quarter" idx="12"/>
          </p:nvPr>
        </p:nvSpPr>
        <p:spPr/>
        <p:txBody>
          <a:bodyPr/>
          <a:lstStyle/>
          <a:p>
            <a:fld id="{D739C4FB-7D33-419B-8833-D1372BFD11C8}" type="slidenum">
              <a:rPr lang="en-US" smtClean="0"/>
              <a:t>‹#›</a:t>
            </a:fld>
            <a:endParaRPr lang="en-US"/>
          </a:p>
        </p:txBody>
      </p:sp>
      <p:cxnSp>
        <p:nvCxnSpPr>
          <p:cNvPr id="8" name="Straight Connector 7"/>
          <p:cNvCxnSpPr/>
          <p:nvPr/>
        </p:nvCxnSpPr>
        <p:spPr>
          <a:xfrm flipV="1">
            <a:off x="294106" y="5472156"/>
            <a:ext cx="8643661" cy="364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FRS-003-009 - Fall 2025</a:t>
            </a:r>
            <a:endParaRPr lang="en-US" dirty="0"/>
          </a:p>
        </p:txBody>
      </p:sp>
      <p:sp>
        <p:nvSpPr>
          <p:cNvPr id="5" name="Footer Placeholder 4"/>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p:cNvSpPr>
            <a:spLocks noGrp="1"/>
          </p:cNvSpPr>
          <p:nvPr>
            <p:ph type="sldNum" sz="quarter" idx="12"/>
          </p:nvPr>
        </p:nvSpPr>
        <p:spPr/>
        <p:txBody>
          <a:bodyPr/>
          <a:lstStyle/>
          <a:p>
            <a:pPr>
              <a:defRPr/>
            </a:pPr>
            <a:fld id="{BCA26155-0DCC-45D2-90B6-32F65F3F6C0F}" type="slidenum">
              <a:rPr lang="en-US" smtClean="0"/>
              <a:pPr>
                <a:defRPr/>
              </a:pPr>
              <a:t>‹#›</a:t>
            </a:fld>
            <a:endParaRPr lang="en-US"/>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FRS-003-009 - Fall 2025</a:t>
            </a:r>
          </a:p>
        </p:txBody>
      </p:sp>
      <p:sp>
        <p:nvSpPr>
          <p:cNvPr id="5" name="Footer Placeholder 4"/>
          <p:cNvSpPr>
            <a:spLocks noGrp="1"/>
          </p:cNvSpPr>
          <p:nvPr>
            <p:ph type="ftr" sz="quarter" idx="11"/>
          </p:nvPr>
        </p:nvSpPr>
        <p:spPr/>
        <p:txBody>
          <a:bodyPr/>
          <a:lstStyle/>
          <a:p>
            <a:r>
              <a:rPr lang="en-US"/>
              <a:t>LIes, Damned Lies, and Statistics</a:t>
            </a:r>
          </a:p>
        </p:txBody>
      </p:sp>
      <p:sp>
        <p:nvSpPr>
          <p:cNvPr id="6" name="Slide Number Placeholder 5"/>
          <p:cNvSpPr>
            <a:spLocks noGrp="1"/>
          </p:cNvSpPr>
          <p:nvPr>
            <p:ph type="sldNum" sz="quarter" idx="12"/>
          </p:nvPr>
        </p:nvSpPr>
        <p:spPr/>
        <p:txBody>
          <a:bodyPr/>
          <a:lstStyle/>
          <a:p>
            <a:fld id="{D7E63A33-8271-4DD0-9C48-789913D7C115}"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43000"/>
            <a:ext cx="4038600" cy="52486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143000"/>
            <a:ext cx="4038600" cy="52486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r>
              <a:rPr lang="en-US"/>
              <a:t>FRS-003-009 - Fall 2025</a:t>
            </a:r>
            <a:endParaRPr lang="en-US" dirty="0"/>
          </a:p>
        </p:txBody>
      </p:sp>
      <p:sp>
        <p:nvSpPr>
          <p:cNvPr id="6" name="Footer Placeholder 5"/>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7" name="Slide Number Placeholder 6"/>
          <p:cNvSpPr>
            <a:spLocks noGrp="1"/>
          </p:cNvSpPr>
          <p:nvPr>
            <p:ph type="sldNum" sz="quarter" idx="12"/>
          </p:nvPr>
        </p:nvSpPr>
        <p:spPr/>
        <p:txBody>
          <a:bodyPr/>
          <a:lstStyle/>
          <a:p>
            <a:pPr>
              <a:defRPr/>
            </a:pPr>
            <a:fld id="{8D914655-DFE5-45AD-AEB7-B6324F535D89}" type="slidenum">
              <a:rPr lang="en-US" smtClean="0"/>
              <a:pPr>
                <a:defRPr/>
              </a:pPr>
              <a:t>‹#›</a:t>
            </a:fld>
            <a:endParaRPr lang="en-US"/>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r>
              <a:rPr lang="en-US"/>
              <a:t>FRS-003-009 - Fall 2025</a:t>
            </a:r>
            <a:endParaRPr lang="en-US" dirty="0"/>
          </a:p>
        </p:txBody>
      </p:sp>
      <p:sp>
        <p:nvSpPr>
          <p:cNvPr id="8" name="Footer Placeholder 7"/>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9" name="Slide Number Placeholder 8"/>
          <p:cNvSpPr>
            <a:spLocks noGrp="1"/>
          </p:cNvSpPr>
          <p:nvPr>
            <p:ph type="sldNum" sz="quarter" idx="12"/>
          </p:nvPr>
        </p:nvSpPr>
        <p:spPr/>
        <p:txBody>
          <a:bodyPr/>
          <a:lstStyle/>
          <a:p>
            <a:pPr>
              <a:defRPr/>
            </a:pPr>
            <a:fld id="{71013A5A-BD10-4E42-8EDD-42C4A14A642B}" type="slidenum">
              <a:rPr lang="en-US" smtClean="0"/>
              <a:pPr>
                <a:defRPr/>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r>
              <a:rPr lang="en-US"/>
              <a:t>FRS-003-009 - Fall 2025</a:t>
            </a:r>
            <a:endParaRPr lang="en-US" dirty="0"/>
          </a:p>
        </p:txBody>
      </p:sp>
      <p:sp>
        <p:nvSpPr>
          <p:cNvPr id="4" name="Footer Placeholder 3"/>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5" name="Slide Number Placeholder 4"/>
          <p:cNvSpPr>
            <a:spLocks noGrp="1"/>
          </p:cNvSpPr>
          <p:nvPr>
            <p:ph type="sldNum" sz="quarter" idx="12"/>
          </p:nvPr>
        </p:nvSpPr>
        <p:spPr/>
        <p:txBody>
          <a:bodyPr/>
          <a:lstStyle/>
          <a:p>
            <a:pPr>
              <a:defRPr/>
            </a:pPr>
            <a:fld id="{BAB536C3-BB10-4165-8E74-99838CB51702}" type="slidenum">
              <a:rPr lang="en-US" smtClean="0"/>
              <a:pPr>
                <a:defRPr/>
              </a:pPr>
              <a:t>‹#›</a:t>
            </a:fld>
            <a:endParaRPr lang="en-US"/>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FRS-003-009 - Fall 2025</a:t>
            </a:r>
            <a:endParaRPr lang="en-US" dirty="0"/>
          </a:p>
        </p:txBody>
      </p:sp>
      <p:sp>
        <p:nvSpPr>
          <p:cNvPr id="3" name="Footer Placeholder 2"/>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4" name="Slide Number Placeholder 3"/>
          <p:cNvSpPr>
            <a:spLocks noGrp="1"/>
          </p:cNvSpPr>
          <p:nvPr>
            <p:ph type="sldNum" sz="quarter" idx="12"/>
          </p:nvPr>
        </p:nvSpPr>
        <p:spPr/>
        <p:txBody>
          <a:bodyPr/>
          <a:lstStyle/>
          <a:p>
            <a:pPr>
              <a:defRPr/>
            </a:pPr>
            <a:fld id="{7A871096-0617-41A5-9758-D80165640925}" type="slidenum">
              <a:rPr lang="en-US" smtClean="0"/>
              <a:pPr>
                <a:defRPr/>
              </a:pPr>
              <a:t>‹#›</a:t>
            </a:fld>
            <a:endParaRPr lang="en-US"/>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FRS-003-009 - Fall 2025</a:t>
            </a:r>
            <a:endParaRPr lang="en-US" dirty="0"/>
          </a:p>
        </p:txBody>
      </p:sp>
      <p:sp>
        <p:nvSpPr>
          <p:cNvPr id="6" name="Footer Placeholder 5"/>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FRS-003-009 - Fall 2025</a:t>
            </a:r>
          </a:p>
        </p:txBody>
      </p:sp>
      <p:sp>
        <p:nvSpPr>
          <p:cNvPr id="6" name="Footer Placeholder 5"/>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7" name="Slide Number Placeholder 6"/>
          <p:cNvSpPr>
            <a:spLocks noGrp="1"/>
          </p:cNvSpPr>
          <p:nvPr>
            <p:ph type="sldNum" sz="quarter" idx="12"/>
          </p:nvPr>
        </p:nvSpPr>
        <p:spPr/>
        <p:txBody>
          <a:bodyPr/>
          <a:lstStyle/>
          <a:p>
            <a:pPr>
              <a:defRPr/>
            </a:pPr>
            <a:fld id="{F58A0D8F-9A19-4D03-8318-653C6FCD8B95}" type="slidenum">
              <a:rPr lang="en-US" smtClean="0"/>
              <a:pPr>
                <a:defRPr/>
              </a:pPr>
              <a:t>‹#›</a:t>
            </a:fld>
            <a:endParaRPr lang="en-US"/>
          </a:p>
        </p:txBody>
      </p:sp>
    </p:spTree>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FRS-003-009 - Fall 2025</a:t>
            </a:r>
            <a:endParaRPr lang="en-US" dirty="0"/>
          </a:p>
        </p:txBody>
      </p:sp>
      <p:sp>
        <p:nvSpPr>
          <p:cNvPr id="5" name="Footer Placeholder 4"/>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p:cNvSpPr>
            <a:spLocks noGrp="1"/>
          </p:cNvSpPr>
          <p:nvPr>
            <p:ph type="sldNum" sz="quarter" idx="12"/>
          </p:nvPr>
        </p:nvSpPr>
        <p:spPr/>
        <p:txBody>
          <a:bodyPr/>
          <a:lstStyle/>
          <a:p>
            <a:pPr>
              <a:defRPr/>
            </a:pPr>
            <a:fld id="{8309CFA1-B09C-442F-85C3-919131D33D24}" type="slidenum">
              <a:rPr lang="en-US" smtClean="0"/>
              <a:pPr>
                <a:defRPr/>
              </a:pPr>
              <a:t>‹#›</a:t>
            </a:fld>
            <a:endParaRPr lang="en-US"/>
          </a:p>
        </p:txBody>
      </p:sp>
    </p:spTree>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FRS-003-009 - Fall 2025</a:t>
            </a:r>
          </a:p>
        </p:txBody>
      </p:sp>
      <p:sp>
        <p:nvSpPr>
          <p:cNvPr id="5" name="Footer Placeholder 4"/>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p:cNvSpPr>
            <a:spLocks noGrp="1"/>
          </p:cNvSpPr>
          <p:nvPr>
            <p:ph type="sldNum" sz="quarter" idx="12"/>
          </p:nvPr>
        </p:nvSpPr>
        <p:spPr/>
        <p:txBody>
          <a:bodyPr/>
          <a:lstStyle/>
          <a:p>
            <a:pPr>
              <a:defRPr/>
            </a:pPr>
            <a:fld id="{05B137E2-35D0-4667-9362-8260FF57AB09}" type="slidenum">
              <a:rPr lang="en-US" smtClean="0"/>
              <a:pPr>
                <a:defRPr/>
              </a:pPr>
              <a:t>‹#›</a:t>
            </a:fld>
            <a:endParaRPr lang="en-US"/>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41713" y="471448"/>
            <a:ext cx="8229600" cy="6282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41713" y="1182021"/>
            <a:ext cx="8229600" cy="54417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pPr>
              <a:defRPr/>
            </a:pPr>
            <a:r>
              <a:rPr lang="en-US"/>
              <a:t>FRS-003-009 - Fall 2025</a:t>
            </a:r>
            <a:endParaRPr lang="en-US" dirty="0"/>
          </a:p>
        </p:txBody>
      </p:sp>
      <p:sp>
        <p:nvSpPr>
          <p:cNvPr id="5" name="Footer Placeholder 4"/>
          <p:cNvSpPr>
            <a:spLocks noGrp="1"/>
          </p:cNvSpPr>
          <p:nvPr>
            <p:ph type="ftr" sz="quarter" idx="3"/>
          </p:nvPr>
        </p:nvSpPr>
        <p:spPr>
          <a:xfrm>
            <a:off x="3429000" y="18288"/>
            <a:ext cx="4409440" cy="329184"/>
          </a:xfrm>
          <a:prstGeom prst="rect">
            <a:avLst/>
          </a:prstGeom>
        </p:spPr>
        <p:txBody>
          <a:bodyPr vert="horz" lIns="91440" tIns="45720" rIns="91440" bIns="45720" rtlCol="0" anchor="ctr"/>
          <a:lstStyle>
            <a:lvl1pPr algn="ctr">
              <a:defRPr sz="1200">
                <a:solidFill>
                  <a:srgbClr val="FFFFFF"/>
                </a:solidFill>
              </a:defRPr>
            </a:lvl1pPr>
          </a:lstStyle>
          <a:p>
            <a:pPr>
              <a:defRPr/>
            </a:pPr>
            <a:r>
              <a:rPr lang="en-US"/>
              <a:t>LIes, Damned Lies, and Statistics</a:t>
            </a:r>
            <a:endParaRPr lang="en-US" dirty="0">
              <a:latin typeface="+mn-lt"/>
            </a:endParaRPr>
          </a:p>
        </p:txBody>
      </p:sp>
      <p:sp>
        <p:nvSpPr>
          <p:cNvPr id="6" name="Slide Number Placeholder 5"/>
          <p:cNvSpPr>
            <a:spLocks noGrp="1"/>
          </p:cNvSpPr>
          <p:nvPr>
            <p:ph type="sldNum" sz="quarter" idx="4"/>
          </p:nvPr>
        </p:nvSpPr>
        <p:spPr>
          <a:xfrm>
            <a:off x="7909560" y="18288"/>
            <a:ext cx="777240" cy="329184"/>
          </a:xfrm>
          <a:prstGeom prst="rect">
            <a:avLst/>
          </a:prstGeom>
        </p:spPr>
        <p:txBody>
          <a:bodyPr vert="horz" lIns="91440" tIns="45720" rIns="91440" bIns="45720" rtlCol="0" anchor="ctr"/>
          <a:lstStyle>
            <a:lvl1pPr algn="l">
              <a:defRPr sz="1400" b="1">
                <a:solidFill>
                  <a:srgbClr val="FFFFFF"/>
                </a:solidFill>
              </a:defRPr>
            </a:lvl1pPr>
          </a:lstStyle>
          <a:p>
            <a:pPr>
              <a:defRPr/>
            </a:pPr>
            <a:fld id="{61210FB4-E372-466D-A3EB-21FD966A10F2}" type="slidenum">
              <a:rPr lang="en-US" smtClean="0"/>
              <a:pPr>
                <a:defRPr/>
              </a:pPr>
              <a:t>‹#›</a:t>
            </a:fld>
            <a:endParaRPr lang="en-US" dirty="0"/>
          </a:p>
        </p:txBody>
      </p:sp>
      <p:sp>
        <p:nvSpPr>
          <p:cNvPr id="9" name="Text Box 11"/>
          <p:cNvSpPr txBox="1">
            <a:spLocks noChangeArrowheads="1"/>
          </p:cNvSpPr>
          <p:nvPr userDrawn="1"/>
        </p:nvSpPr>
        <p:spPr bwMode="auto">
          <a:xfrm>
            <a:off x="381000" y="6553200"/>
            <a:ext cx="1676400" cy="579438"/>
          </a:xfrm>
          <a:prstGeom prst="rect">
            <a:avLst/>
          </a:prstGeom>
          <a:noFill/>
          <a:ln w="9525">
            <a:noFill/>
            <a:miter lim="800000"/>
            <a:headEnd/>
            <a:tailEnd/>
          </a:ln>
          <a:effectLst/>
        </p:spPr>
        <p:txBody>
          <a:bodyPr>
            <a:spAutoFit/>
          </a:bodyPr>
          <a:lstStyle/>
          <a:p>
            <a:pPr>
              <a:spcBef>
                <a:spcPct val="50000"/>
              </a:spcBef>
              <a:defRPr/>
            </a:pPr>
            <a:endParaRPr lang="en-US"/>
          </a:p>
        </p:txBody>
      </p:sp>
      <p:pic>
        <p:nvPicPr>
          <p:cNvPr id="13" name="Picture 12"/>
          <p:cNvPicPr>
            <a:picLocks noChangeAspect="1"/>
          </p:cNvPicPr>
          <p:nvPr userDrawn="1"/>
        </p:nvPicPr>
        <p:blipFill>
          <a:blip r:embed="rId13"/>
          <a:stretch>
            <a:fillRect/>
          </a:stretch>
        </p:blipFill>
        <p:spPr>
          <a:xfrm>
            <a:off x="8781336" y="1"/>
            <a:ext cx="362663" cy="370830"/>
          </a:xfrm>
          <a:prstGeom prst="rect">
            <a:avLst/>
          </a:prstGeom>
        </p:spPr>
      </p:pic>
    </p:spTree>
  </p:cSld>
  <p:clrMap bg1="lt1" tx1="dk1" bg2="lt2" tx2="dk2" accent1="accent1" accent2="accent2" accent3="accent3" accent4="accent4" accent5="accent5" accent6="accent6" hlink="hlink" folHlink="folHlink"/>
  <p:sldLayoutIdLst>
    <p:sldLayoutId id="2147484625" r:id="rId1"/>
    <p:sldLayoutId id="2147484626" r:id="rId2"/>
    <p:sldLayoutId id="2147484627" r:id="rId3"/>
    <p:sldLayoutId id="2147484628" r:id="rId4"/>
    <p:sldLayoutId id="2147484629" r:id="rId5"/>
    <p:sldLayoutId id="2147484630" r:id="rId6"/>
    <p:sldLayoutId id="2147484631" r:id="rId7"/>
    <p:sldLayoutId id="2147484632" r:id="rId8"/>
    <p:sldLayoutId id="2147484633" r:id="rId9"/>
    <p:sldLayoutId id="2147484634" r:id="rId10"/>
    <p:sldLayoutId id="2147484635" r:id="rId11"/>
  </p:sldLayoutIdLst>
  <p:transition>
    <p:fade thruBlk="1"/>
  </p:transition>
  <p:hf hdr="0"/>
  <p:txStyles>
    <p:titleStyle>
      <a:lvl1pPr algn="l" defTabSz="914400" rtl="0" eaLnBrk="1" latinLnBrk="0" hangingPunct="1">
        <a:spcBef>
          <a:spcPct val="0"/>
        </a:spcBef>
        <a:buNone/>
        <a:defRPr sz="32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13.emf"/></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emf"/><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instituteofdiet.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sz="4000" dirty="0"/>
              <a:t>Lies, Damned Lies, and Statistics</a:t>
            </a:r>
            <a:endParaRPr lang="en-US" sz="3200" dirty="0"/>
          </a:p>
        </p:txBody>
      </p:sp>
      <p:sp>
        <p:nvSpPr>
          <p:cNvPr id="4" name="Subtitle 3">
            <a:extLst>
              <a:ext uri="{FF2B5EF4-FFF2-40B4-BE49-F238E27FC236}">
                <a16:creationId xmlns:a16="http://schemas.microsoft.com/office/drawing/2014/main" id="{054AAFC2-039B-5A2A-C93C-DB9A9EE8AF2E}"/>
              </a:ext>
            </a:extLst>
          </p:cNvPr>
          <p:cNvSpPr>
            <a:spLocks noGrp="1"/>
          </p:cNvSpPr>
          <p:nvPr>
            <p:ph type="subTitle" idx="1"/>
          </p:nvPr>
        </p:nvSpPr>
        <p:spPr>
          <a:xfrm>
            <a:off x="685800" y="5582481"/>
            <a:ext cx="6400800" cy="840089"/>
          </a:xfrm>
        </p:spPr>
        <p:txBody>
          <a:bodyPr>
            <a:normAutofit lnSpcReduction="10000"/>
          </a:bodyPr>
          <a:lstStyle/>
          <a:p>
            <a:r>
              <a:rPr lang="en-US" dirty="0"/>
              <a:t>Eric Prebys</a:t>
            </a:r>
          </a:p>
          <a:p>
            <a:r>
              <a:rPr lang="en-US" dirty="0"/>
              <a:t>FRS-003-009</a:t>
            </a:r>
          </a:p>
        </p:txBody>
      </p:sp>
      <p:pic>
        <p:nvPicPr>
          <p:cNvPr id="1026" name="Picture 2" descr="Shooting craps or rolling dice with bets on the table showing a seven Stock  Photo - Alamy">
            <a:extLst>
              <a:ext uri="{FF2B5EF4-FFF2-40B4-BE49-F238E27FC236}">
                <a16:creationId xmlns:a16="http://schemas.microsoft.com/office/drawing/2014/main" id="{F5466D03-2A2E-2712-A1E0-63C1517585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325" y="706712"/>
            <a:ext cx="2907765" cy="31092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igure 5">
            <a:extLst>
              <a:ext uri="{FF2B5EF4-FFF2-40B4-BE49-F238E27FC236}">
                <a16:creationId xmlns:a16="http://schemas.microsoft.com/office/drawing/2014/main" id="{74268B6D-EC10-793D-B098-BFD0B0E44EC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a:fillRect/>
          </a:stretch>
        </p:blipFill>
        <p:spPr bwMode="auto">
          <a:xfrm>
            <a:off x="3593565" y="644400"/>
            <a:ext cx="5080810" cy="32339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D5D76E-C037-CA0A-C386-7FDEA985ED7A}"/>
              </a:ext>
            </a:extLst>
          </p:cNvPr>
          <p:cNvSpPr>
            <a:spLocks noGrp="1"/>
          </p:cNvSpPr>
          <p:nvPr>
            <p:ph idx="1"/>
          </p:nvPr>
        </p:nvSpPr>
        <p:spPr/>
        <p:txBody>
          <a:bodyPr/>
          <a:lstStyle/>
          <a:p>
            <a:r>
              <a:rPr lang="en-US" sz="2400" dirty="0"/>
              <a:t>Everything in science is a theory!</a:t>
            </a:r>
          </a:p>
          <a:p>
            <a:r>
              <a:rPr lang="en-US" sz="2400" dirty="0"/>
              <a:t>We only accept a theory to the extent that it has been verified by experiment.</a:t>
            </a:r>
          </a:p>
          <a:p>
            <a:r>
              <a:rPr lang="en-US" sz="2400" dirty="0"/>
              <a:t>Some theories have been verified to such a degree that we – tentatively! – accept them as “facts” or ”laws”. These include</a:t>
            </a:r>
          </a:p>
          <a:p>
            <a:pPr lvl="1"/>
            <a:r>
              <a:rPr lang="en-US" sz="2000" dirty="0"/>
              <a:t>Conservation of Energy</a:t>
            </a:r>
          </a:p>
          <a:p>
            <a:pPr lvl="1"/>
            <a:r>
              <a:rPr lang="en-US" sz="2000" dirty="0"/>
              <a:t>Special Relativity, including the speed of light as the limit to the speed of information transfer</a:t>
            </a:r>
          </a:p>
          <a:p>
            <a:pPr lvl="1"/>
            <a:r>
              <a:rPr lang="en-US" sz="2000" dirty="0"/>
              <a:t>Electricity and Magnetism</a:t>
            </a:r>
          </a:p>
          <a:p>
            <a:pPr lvl="1"/>
            <a:r>
              <a:rPr lang="en-US" sz="2000" dirty="0"/>
              <a:t>Yet even these are still tested.</a:t>
            </a:r>
          </a:p>
          <a:p>
            <a:r>
              <a:rPr lang="en-US" sz="2400" dirty="0"/>
              <a:t>In order to understand the significance of a particular result, we have to understand the errors associated with it.</a:t>
            </a:r>
          </a:p>
        </p:txBody>
      </p:sp>
      <p:sp>
        <p:nvSpPr>
          <p:cNvPr id="3" name="Title 2">
            <a:extLst>
              <a:ext uri="{FF2B5EF4-FFF2-40B4-BE49-F238E27FC236}">
                <a16:creationId xmlns:a16="http://schemas.microsoft.com/office/drawing/2014/main" id="{F4504168-B070-980E-E260-028890DC36AE}"/>
              </a:ext>
            </a:extLst>
          </p:cNvPr>
          <p:cNvSpPr>
            <a:spLocks noGrp="1"/>
          </p:cNvSpPr>
          <p:nvPr>
            <p:ph type="title"/>
          </p:nvPr>
        </p:nvSpPr>
        <p:spPr/>
        <p:txBody>
          <a:bodyPr/>
          <a:lstStyle/>
          <a:p>
            <a:r>
              <a:rPr lang="en-US" dirty="0"/>
              <a:t>Errors and Significance</a:t>
            </a:r>
          </a:p>
        </p:txBody>
      </p:sp>
      <p:sp>
        <p:nvSpPr>
          <p:cNvPr id="4" name="Date Placeholder 3">
            <a:extLst>
              <a:ext uri="{FF2B5EF4-FFF2-40B4-BE49-F238E27FC236}">
                <a16:creationId xmlns:a16="http://schemas.microsoft.com/office/drawing/2014/main" id="{513EA4B9-82F7-5F35-0D69-69C17C77B3DE}"/>
              </a:ext>
            </a:extLst>
          </p:cNvPr>
          <p:cNvSpPr>
            <a:spLocks noGrp="1"/>
          </p:cNvSpPr>
          <p:nvPr>
            <p:ph type="dt" sz="half" idx="10"/>
          </p:nvPr>
        </p:nvSpPr>
        <p:spPr/>
        <p:txBody>
          <a:bodyPr/>
          <a:lstStyle/>
          <a:p>
            <a:pPr>
              <a:defRPr/>
            </a:pPr>
            <a:r>
              <a:rPr lang="en-US"/>
              <a:t>FRS-003-009 - Fall 2025</a:t>
            </a:r>
          </a:p>
        </p:txBody>
      </p:sp>
      <p:sp>
        <p:nvSpPr>
          <p:cNvPr id="5" name="Footer Placeholder 4">
            <a:extLst>
              <a:ext uri="{FF2B5EF4-FFF2-40B4-BE49-F238E27FC236}">
                <a16:creationId xmlns:a16="http://schemas.microsoft.com/office/drawing/2014/main" id="{0813C6F0-D318-165A-DD79-D9F263985532}"/>
              </a:ext>
            </a:extLst>
          </p:cNvPr>
          <p:cNvSpPr>
            <a:spLocks noGrp="1"/>
          </p:cNvSpPr>
          <p:nvPr>
            <p:ph type="ftr" sz="quarter" idx="11"/>
          </p:nvPr>
        </p:nvSpPr>
        <p:spPr/>
        <p:txBody>
          <a:bodyPr/>
          <a:lstStyle/>
          <a:p>
            <a:pPr>
              <a:defRPr/>
            </a:pPr>
            <a:r>
              <a:rPr lang="en-US"/>
              <a:t>LIes, Damned Lies, and Statistics</a:t>
            </a:r>
          </a:p>
        </p:txBody>
      </p:sp>
      <p:sp>
        <p:nvSpPr>
          <p:cNvPr id="6" name="Slide Number Placeholder 5">
            <a:extLst>
              <a:ext uri="{FF2B5EF4-FFF2-40B4-BE49-F238E27FC236}">
                <a16:creationId xmlns:a16="http://schemas.microsoft.com/office/drawing/2014/main" id="{1DBCF7BE-C569-C40D-7C23-FA53B93A421D}"/>
              </a:ext>
            </a:extLst>
          </p:cNvPr>
          <p:cNvSpPr>
            <a:spLocks noGrp="1"/>
          </p:cNvSpPr>
          <p:nvPr>
            <p:ph type="sldNum" sz="quarter" idx="12"/>
          </p:nvPr>
        </p:nvSpPr>
        <p:spPr/>
        <p:txBody>
          <a:bodyPr/>
          <a:lstStyle/>
          <a:p>
            <a:pPr>
              <a:defRPr/>
            </a:pPr>
            <a:fld id="{E90A356B-319B-4464-B0C8-0B3395D72FC7}" type="slidenum">
              <a:rPr lang="en-US" smtClean="0"/>
              <a:pPr>
                <a:defRPr/>
              </a:pPr>
              <a:t>2</a:t>
            </a:fld>
            <a:endParaRPr lang="en-US"/>
          </a:p>
        </p:txBody>
      </p:sp>
    </p:spTree>
    <p:extLst>
      <p:ext uri="{BB962C8B-B14F-4D97-AF65-F5344CB8AC3E}">
        <p14:creationId xmlns:p14="http://schemas.microsoft.com/office/powerpoint/2010/main" val="402887721"/>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553445-357E-66EA-C7C1-721E648D3B38}"/>
              </a:ext>
            </a:extLst>
          </p:cNvPr>
          <p:cNvSpPr>
            <a:spLocks noGrp="1"/>
          </p:cNvSpPr>
          <p:nvPr>
            <p:ph idx="1"/>
          </p:nvPr>
        </p:nvSpPr>
        <p:spPr/>
        <p:txBody>
          <a:bodyPr/>
          <a:lstStyle/>
          <a:p>
            <a:r>
              <a:rPr lang="en-US" sz="2400" dirty="0"/>
              <a:t>Every measurement has an error associated with it.</a:t>
            </a:r>
          </a:p>
          <a:p>
            <a:r>
              <a:rPr lang="en-US" sz="2400" dirty="0"/>
              <a:t>In precision science, determining the error is quite often the hardest part of the job!</a:t>
            </a:r>
          </a:p>
          <a:p>
            <a:r>
              <a:rPr lang="en-US" sz="2400" dirty="0"/>
              <a:t>For example, the mass of the proton has been very well measured, and the current value is*</a:t>
            </a:r>
          </a:p>
          <a:p>
            <a:endParaRPr lang="en-US" sz="2400" dirty="0"/>
          </a:p>
          <a:p>
            <a:endParaRPr lang="en-US" sz="2400" dirty="0"/>
          </a:p>
          <a:p>
            <a:endParaRPr lang="en-US" sz="2400" dirty="0"/>
          </a:p>
          <a:p>
            <a:r>
              <a:rPr lang="en-US" sz="2400" dirty="0"/>
              <a:t>What does this mean?</a:t>
            </a:r>
          </a:p>
          <a:p>
            <a:r>
              <a:rPr lang="en-US" sz="2400" dirty="0"/>
              <a:t>Does it mean the ”true” value absolutely has to be within this range?</a:t>
            </a:r>
          </a:p>
          <a:p>
            <a:pPr lvl="1"/>
            <a:r>
              <a:rPr lang="en-US" sz="2200" dirty="0"/>
              <a:t>Short answer: no</a:t>
            </a:r>
          </a:p>
        </p:txBody>
      </p:sp>
      <p:sp>
        <p:nvSpPr>
          <p:cNvPr id="3" name="Title 2">
            <a:extLst>
              <a:ext uri="{FF2B5EF4-FFF2-40B4-BE49-F238E27FC236}">
                <a16:creationId xmlns:a16="http://schemas.microsoft.com/office/drawing/2014/main" id="{68789A17-29FE-4465-76D3-331141FDAEA1}"/>
              </a:ext>
            </a:extLst>
          </p:cNvPr>
          <p:cNvSpPr>
            <a:spLocks noGrp="1"/>
          </p:cNvSpPr>
          <p:nvPr>
            <p:ph type="title"/>
          </p:nvPr>
        </p:nvSpPr>
        <p:spPr/>
        <p:txBody>
          <a:bodyPr/>
          <a:lstStyle/>
          <a:p>
            <a:r>
              <a:rPr lang="en-US" dirty="0"/>
              <a:t>Errors in Measurement</a:t>
            </a:r>
          </a:p>
        </p:txBody>
      </p:sp>
      <p:sp>
        <p:nvSpPr>
          <p:cNvPr id="4" name="Date Placeholder 3">
            <a:extLst>
              <a:ext uri="{FF2B5EF4-FFF2-40B4-BE49-F238E27FC236}">
                <a16:creationId xmlns:a16="http://schemas.microsoft.com/office/drawing/2014/main" id="{E144FDAC-C096-2841-1AAD-DB94A6212219}"/>
              </a:ext>
            </a:extLst>
          </p:cNvPr>
          <p:cNvSpPr>
            <a:spLocks noGrp="1"/>
          </p:cNvSpPr>
          <p:nvPr>
            <p:ph type="dt" sz="half" idx="10"/>
          </p:nvPr>
        </p:nvSpPr>
        <p:spPr/>
        <p:txBody>
          <a:bodyPr/>
          <a:lstStyle/>
          <a:p>
            <a:pPr>
              <a:defRPr/>
            </a:pPr>
            <a:r>
              <a:rPr lang="en-US"/>
              <a:t>FRS-003-009 - Fall 2025</a:t>
            </a:r>
          </a:p>
        </p:txBody>
      </p:sp>
      <p:sp>
        <p:nvSpPr>
          <p:cNvPr id="5" name="Footer Placeholder 4">
            <a:extLst>
              <a:ext uri="{FF2B5EF4-FFF2-40B4-BE49-F238E27FC236}">
                <a16:creationId xmlns:a16="http://schemas.microsoft.com/office/drawing/2014/main" id="{CEAEA5D6-944C-AD5F-FD65-9036820644C2}"/>
              </a:ext>
            </a:extLst>
          </p:cNvPr>
          <p:cNvSpPr>
            <a:spLocks noGrp="1"/>
          </p:cNvSpPr>
          <p:nvPr>
            <p:ph type="ftr" sz="quarter" idx="11"/>
          </p:nvPr>
        </p:nvSpPr>
        <p:spPr/>
        <p:txBody>
          <a:bodyPr/>
          <a:lstStyle/>
          <a:p>
            <a:pPr>
              <a:defRPr/>
            </a:pPr>
            <a:r>
              <a:rPr lang="en-US"/>
              <a:t>LIes, Damned Lies, and Statistics</a:t>
            </a:r>
          </a:p>
        </p:txBody>
      </p:sp>
      <p:sp>
        <p:nvSpPr>
          <p:cNvPr id="6" name="Slide Number Placeholder 5">
            <a:extLst>
              <a:ext uri="{FF2B5EF4-FFF2-40B4-BE49-F238E27FC236}">
                <a16:creationId xmlns:a16="http://schemas.microsoft.com/office/drawing/2014/main" id="{2832E219-DC1C-1767-209C-955618757EB1}"/>
              </a:ext>
            </a:extLst>
          </p:cNvPr>
          <p:cNvSpPr>
            <a:spLocks noGrp="1"/>
          </p:cNvSpPr>
          <p:nvPr>
            <p:ph type="sldNum" sz="quarter" idx="12"/>
          </p:nvPr>
        </p:nvSpPr>
        <p:spPr/>
        <p:txBody>
          <a:bodyPr/>
          <a:lstStyle/>
          <a:p>
            <a:pPr>
              <a:defRPr/>
            </a:pPr>
            <a:fld id="{E90A356B-319B-4464-B0C8-0B3395D72FC7}" type="slidenum">
              <a:rPr lang="en-US" smtClean="0"/>
              <a:pPr>
                <a:defRPr/>
              </a:pPr>
              <a:t>3</a:t>
            </a:fld>
            <a:endParaRPr lang="en-US"/>
          </a:p>
        </p:txBody>
      </p:sp>
      <p:sp>
        <p:nvSpPr>
          <p:cNvPr id="9" name="TextBox 8">
            <a:extLst>
              <a:ext uri="{FF2B5EF4-FFF2-40B4-BE49-F238E27FC236}">
                <a16:creationId xmlns:a16="http://schemas.microsoft.com/office/drawing/2014/main" id="{E31A46EC-E573-781C-2882-D65EBC6FE870}"/>
              </a:ext>
            </a:extLst>
          </p:cNvPr>
          <p:cNvSpPr txBox="1"/>
          <p:nvPr/>
        </p:nvSpPr>
        <p:spPr>
          <a:xfrm>
            <a:off x="1195575" y="3794247"/>
            <a:ext cx="1246887" cy="400110"/>
          </a:xfrm>
          <a:prstGeom prst="rect">
            <a:avLst/>
          </a:prstGeom>
          <a:noFill/>
        </p:spPr>
        <p:txBody>
          <a:bodyPr wrap="square" rtlCol="0">
            <a:spAutoFit/>
          </a:bodyPr>
          <a:lstStyle/>
          <a:p>
            <a:r>
              <a:rPr lang="en-US" sz="2000" dirty="0">
                <a:solidFill>
                  <a:srgbClr val="FF0000"/>
                </a:solidFill>
                <a:latin typeface="+mn-lt"/>
              </a:rPr>
              <a:t>Value</a:t>
            </a:r>
          </a:p>
        </p:txBody>
      </p:sp>
      <p:sp>
        <p:nvSpPr>
          <p:cNvPr id="15" name="TextBox 14">
            <a:extLst>
              <a:ext uri="{FF2B5EF4-FFF2-40B4-BE49-F238E27FC236}">
                <a16:creationId xmlns:a16="http://schemas.microsoft.com/office/drawing/2014/main" id="{CE850861-6F9B-251F-D191-CA3EF50653D2}"/>
              </a:ext>
            </a:extLst>
          </p:cNvPr>
          <p:cNvSpPr txBox="1"/>
          <p:nvPr/>
        </p:nvSpPr>
        <p:spPr>
          <a:xfrm>
            <a:off x="5454653" y="3865580"/>
            <a:ext cx="1246887" cy="400110"/>
          </a:xfrm>
          <a:prstGeom prst="rect">
            <a:avLst/>
          </a:prstGeom>
          <a:noFill/>
        </p:spPr>
        <p:txBody>
          <a:bodyPr wrap="square" rtlCol="0">
            <a:spAutoFit/>
          </a:bodyPr>
          <a:lstStyle/>
          <a:p>
            <a:r>
              <a:rPr lang="en-US" sz="2000" dirty="0">
                <a:solidFill>
                  <a:srgbClr val="FF0000"/>
                </a:solidFill>
                <a:latin typeface="+mn-lt"/>
              </a:rPr>
              <a:t>Error</a:t>
            </a:r>
          </a:p>
        </p:txBody>
      </p:sp>
      <p:sp>
        <p:nvSpPr>
          <p:cNvPr id="16" name="TextBox 15">
            <a:extLst>
              <a:ext uri="{FF2B5EF4-FFF2-40B4-BE49-F238E27FC236}">
                <a16:creationId xmlns:a16="http://schemas.microsoft.com/office/drawing/2014/main" id="{158A9812-FADE-C29C-8D02-181BAC661246}"/>
              </a:ext>
            </a:extLst>
          </p:cNvPr>
          <p:cNvSpPr txBox="1"/>
          <p:nvPr/>
        </p:nvSpPr>
        <p:spPr>
          <a:xfrm>
            <a:off x="6501213" y="6285188"/>
            <a:ext cx="2275655" cy="338554"/>
          </a:xfrm>
          <a:prstGeom prst="rect">
            <a:avLst/>
          </a:prstGeom>
          <a:noFill/>
        </p:spPr>
        <p:txBody>
          <a:bodyPr wrap="square" rtlCol="0">
            <a:spAutoFit/>
          </a:bodyPr>
          <a:lstStyle/>
          <a:p>
            <a:pPr algn="r"/>
            <a:r>
              <a:rPr lang="en-US" sz="1600" dirty="0"/>
              <a:t>*https://</a:t>
            </a:r>
            <a:r>
              <a:rPr lang="en-US" sz="1600" dirty="0" err="1"/>
              <a:t>pdg.lbl.gov</a:t>
            </a:r>
            <a:endParaRPr lang="en-US" sz="1600" dirty="0"/>
          </a:p>
        </p:txBody>
      </p:sp>
      <p:pic>
        <p:nvPicPr>
          <p:cNvPr id="7" name="Picture 6">
            <a:extLst>
              <a:ext uri="{FF2B5EF4-FFF2-40B4-BE49-F238E27FC236}">
                <a16:creationId xmlns:a16="http://schemas.microsoft.com/office/drawing/2014/main" id="{E957F191-32B3-27FB-2F31-15B81BC64023}"/>
              </a:ext>
            </a:extLst>
          </p:cNvPr>
          <p:cNvPicPr>
            <a:picLocks noChangeAspect="1"/>
          </p:cNvPicPr>
          <p:nvPr/>
        </p:nvPicPr>
        <p:blipFill>
          <a:blip r:embed="rId2"/>
          <a:stretch>
            <a:fillRect/>
          </a:stretch>
        </p:blipFill>
        <p:spPr>
          <a:xfrm>
            <a:off x="1940313" y="3408895"/>
            <a:ext cx="5232400" cy="215900"/>
          </a:xfrm>
          <a:prstGeom prst="rect">
            <a:avLst/>
          </a:prstGeom>
        </p:spPr>
      </p:pic>
      <p:cxnSp>
        <p:nvCxnSpPr>
          <p:cNvPr id="12" name="Straight Arrow Connector 11">
            <a:extLst>
              <a:ext uri="{FF2B5EF4-FFF2-40B4-BE49-F238E27FC236}">
                <a16:creationId xmlns:a16="http://schemas.microsoft.com/office/drawing/2014/main" id="{07B08E78-5391-1F1B-D85E-F979FC817CD0}"/>
              </a:ext>
            </a:extLst>
          </p:cNvPr>
          <p:cNvCxnSpPr>
            <a:cxnSpLocks/>
          </p:cNvCxnSpPr>
          <p:nvPr/>
        </p:nvCxnSpPr>
        <p:spPr>
          <a:xfrm flipV="1">
            <a:off x="2177143" y="3701143"/>
            <a:ext cx="381000" cy="20173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AF184BE7-527A-6E8D-06CD-390F556ED66D}"/>
              </a:ext>
            </a:extLst>
          </p:cNvPr>
          <p:cNvCxnSpPr>
            <a:cxnSpLocks/>
          </p:cNvCxnSpPr>
          <p:nvPr/>
        </p:nvCxnSpPr>
        <p:spPr>
          <a:xfrm flipH="1" flipV="1">
            <a:off x="5424228" y="3663842"/>
            <a:ext cx="290772" cy="23903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4224192"/>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D33BF8-8CCD-9007-0C55-0778E0FF73F9}"/>
              </a:ext>
            </a:extLst>
          </p:cNvPr>
          <p:cNvSpPr>
            <a:spLocks noGrp="1"/>
          </p:cNvSpPr>
          <p:nvPr>
            <p:ph idx="1"/>
          </p:nvPr>
        </p:nvSpPr>
        <p:spPr/>
        <p:txBody>
          <a:bodyPr/>
          <a:lstStyle/>
          <a:p>
            <a:r>
              <a:rPr lang="en-US" sz="2400" dirty="0"/>
              <a:t>Once upon a time, the universe was believed to be “deterministic”; that is, if we knew every particle’s position and trajectory, we could precisely predict everything that would happen in the future</a:t>
            </a:r>
          </a:p>
          <a:p>
            <a:pPr lvl="1"/>
            <a:r>
              <a:rPr lang="en-US" sz="2000" dirty="0"/>
              <a:t>Or work backwards to figure out everything that happened in the past.</a:t>
            </a:r>
          </a:p>
          <a:p>
            <a:r>
              <a:rPr lang="en-US" sz="2400" dirty="0"/>
              <a:t>They knew they could never do this in practice, so they invented a number of statistical tools for complex descriptions and predictions.</a:t>
            </a:r>
          </a:p>
          <a:p>
            <a:r>
              <a:rPr lang="en-US" sz="2400" dirty="0"/>
              <a:t>Following the discovery of quantum mechanics, we now know that nature behaves statistically at the the most fundamental level.</a:t>
            </a:r>
          </a:p>
          <a:p>
            <a:pPr lvl="1"/>
            <a:r>
              <a:rPr lang="en-US" sz="2200" dirty="0"/>
              <a:t>Not deterministic</a:t>
            </a:r>
          </a:p>
          <a:p>
            <a:pPr lvl="1"/>
            <a:r>
              <a:rPr lang="en-US" sz="2200" dirty="0"/>
              <a:t>Every experimental outcome is associated with a probability.</a:t>
            </a:r>
          </a:p>
          <a:p>
            <a:pPr marL="0" indent="0">
              <a:buNone/>
            </a:pPr>
            <a:endParaRPr lang="en-US" sz="2400" dirty="0"/>
          </a:p>
          <a:p>
            <a:pPr marL="0" indent="0">
              <a:buNone/>
            </a:pPr>
            <a:endParaRPr lang="en-US" sz="2400" dirty="0"/>
          </a:p>
        </p:txBody>
      </p:sp>
      <p:sp>
        <p:nvSpPr>
          <p:cNvPr id="3" name="Title 2">
            <a:extLst>
              <a:ext uri="{FF2B5EF4-FFF2-40B4-BE49-F238E27FC236}">
                <a16:creationId xmlns:a16="http://schemas.microsoft.com/office/drawing/2014/main" id="{591988DD-E720-994A-72D0-86A08537B34B}"/>
              </a:ext>
            </a:extLst>
          </p:cNvPr>
          <p:cNvSpPr>
            <a:spLocks noGrp="1"/>
          </p:cNvSpPr>
          <p:nvPr>
            <p:ph type="title"/>
          </p:nvPr>
        </p:nvSpPr>
        <p:spPr/>
        <p:txBody>
          <a:bodyPr/>
          <a:lstStyle/>
          <a:p>
            <a:r>
              <a:rPr lang="en-US" dirty="0"/>
              <a:t>The Role of Statistics</a:t>
            </a:r>
          </a:p>
        </p:txBody>
      </p:sp>
      <p:sp>
        <p:nvSpPr>
          <p:cNvPr id="4" name="Date Placeholder 3">
            <a:extLst>
              <a:ext uri="{FF2B5EF4-FFF2-40B4-BE49-F238E27FC236}">
                <a16:creationId xmlns:a16="http://schemas.microsoft.com/office/drawing/2014/main" id="{6ABF15FC-FACC-1608-FEBD-0C54C5CD42BE}"/>
              </a:ext>
            </a:extLst>
          </p:cNvPr>
          <p:cNvSpPr>
            <a:spLocks noGrp="1"/>
          </p:cNvSpPr>
          <p:nvPr>
            <p:ph type="dt" sz="half" idx="10"/>
          </p:nvPr>
        </p:nvSpPr>
        <p:spPr/>
        <p:txBody>
          <a:bodyPr/>
          <a:lstStyle/>
          <a:p>
            <a:pPr>
              <a:defRPr/>
            </a:pPr>
            <a:r>
              <a:rPr lang="en-US"/>
              <a:t>FRS-003-009 - Fall 2025</a:t>
            </a:r>
          </a:p>
        </p:txBody>
      </p:sp>
      <p:sp>
        <p:nvSpPr>
          <p:cNvPr id="5" name="Footer Placeholder 4">
            <a:extLst>
              <a:ext uri="{FF2B5EF4-FFF2-40B4-BE49-F238E27FC236}">
                <a16:creationId xmlns:a16="http://schemas.microsoft.com/office/drawing/2014/main" id="{6B70075B-7B66-5772-6C9E-AEBA7F51C81F}"/>
              </a:ext>
            </a:extLst>
          </p:cNvPr>
          <p:cNvSpPr>
            <a:spLocks noGrp="1"/>
          </p:cNvSpPr>
          <p:nvPr>
            <p:ph type="ftr" sz="quarter" idx="11"/>
          </p:nvPr>
        </p:nvSpPr>
        <p:spPr/>
        <p:txBody>
          <a:bodyPr/>
          <a:lstStyle/>
          <a:p>
            <a:pPr>
              <a:defRPr/>
            </a:pPr>
            <a:r>
              <a:rPr lang="en-US"/>
              <a:t>LIes, Damned Lies, and Statistics</a:t>
            </a:r>
          </a:p>
        </p:txBody>
      </p:sp>
      <p:sp>
        <p:nvSpPr>
          <p:cNvPr id="6" name="Slide Number Placeholder 5">
            <a:extLst>
              <a:ext uri="{FF2B5EF4-FFF2-40B4-BE49-F238E27FC236}">
                <a16:creationId xmlns:a16="http://schemas.microsoft.com/office/drawing/2014/main" id="{7BCFAE77-8983-8575-7047-5A4AA06CB49B}"/>
              </a:ext>
            </a:extLst>
          </p:cNvPr>
          <p:cNvSpPr>
            <a:spLocks noGrp="1"/>
          </p:cNvSpPr>
          <p:nvPr>
            <p:ph type="sldNum" sz="quarter" idx="12"/>
          </p:nvPr>
        </p:nvSpPr>
        <p:spPr/>
        <p:txBody>
          <a:bodyPr/>
          <a:lstStyle/>
          <a:p>
            <a:pPr>
              <a:defRPr/>
            </a:pPr>
            <a:fld id="{E90A356B-319B-4464-B0C8-0B3395D72FC7}" type="slidenum">
              <a:rPr lang="en-US" smtClean="0"/>
              <a:pPr>
                <a:defRPr/>
              </a:pPr>
              <a:t>4</a:t>
            </a:fld>
            <a:endParaRPr lang="en-US"/>
          </a:p>
        </p:txBody>
      </p:sp>
      <p:sp>
        <p:nvSpPr>
          <p:cNvPr id="7" name="Rectangle 6">
            <a:extLst>
              <a:ext uri="{FF2B5EF4-FFF2-40B4-BE49-F238E27FC236}">
                <a16:creationId xmlns:a16="http://schemas.microsoft.com/office/drawing/2014/main" id="{E3BFA938-92C3-5E92-6431-224B2B5F7529}"/>
              </a:ext>
            </a:extLst>
          </p:cNvPr>
          <p:cNvSpPr/>
          <p:nvPr/>
        </p:nvSpPr>
        <p:spPr>
          <a:xfrm>
            <a:off x="751114" y="6161314"/>
            <a:ext cx="7772400" cy="462428"/>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067008"/>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634AC-2EFF-216B-FA66-919E0A3200DB}"/>
              </a:ext>
            </a:extLst>
          </p:cNvPr>
          <p:cNvSpPr>
            <a:spLocks noGrp="1"/>
          </p:cNvSpPr>
          <p:nvPr>
            <p:ph type="title"/>
          </p:nvPr>
        </p:nvSpPr>
        <p:spPr/>
        <p:txBody>
          <a:bodyPr/>
          <a:lstStyle/>
          <a:p>
            <a:r>
              <a:rPr lang="en-US" dirty="0"/>
              <a:t>When Probabilities Become “Certainties”</a:t>
            </a:r>
          </a:p>
        </p:txBody>
      </p:sp>
      <p:sp>
        <p:nvSpPr>
          <p:cNvPr id="3" name="Content Placeholder 2">
            <a:extLst>
              <a:ext uri="{FF2B5EF4-FFF2-40B4-BE49-F238E27FC236}">
                <a16:creationId xmlns:a16="http://schemas.microsoft.com/office/drawing/2014/main" id="{4058B01C-B05C-F2F3-DD3C-D83D99ABC667}"/>
              </a:ext>
            </a:extLst>
          </p:cNvPr>
          <p:cNvSpPr>
            <a:spLocks noGrp="1"/>
          </p:cNvSpPr>
          <p:nvPr>
            <p:ph idx="1"/>
          </p:nvPr>
        </p:nvSpPr>
        <p:spPr/>
        <p:txBody>
          <a:bodyPr>
            <a:normAutofit/>
          </a:bodyPr>
          <a:lstStyle/>
          <a:p>
            <a:r>
              <a:rPr lang="en-US" sz="2000" dirty="0"/>
              <a:t>Even though everything is probabilistic at the most fundamental level, once we get enough statistics, we can predict precise outcomes</a:t>
            </a:r>
          </a:p>
          <a:p>
            <a:pPr lvl="1"/>
            <a:r>
              <a:rPr lang="en-US" sz="1800" dirty="0"/>
              <a:t>The more statistics we gather, the more precise the prediction.</a:t>
            </a:r>
          </a:p>
          <a:p>
            <a:r>
              <a:rPr lang="en-US" sz="2000" dirty="0"/>
              <a:t>Example:</a:t>
            </a:r>
          </a:p>
          <a:p>
            <a:pPr lvl="1"/>
            <a:r>
              <a:rPr lang="en-US" sz="1800" dirty="0"/>
              <a:t>Carbon-14 decays via the “beta decay”</a:t>
            </a:r>
          </a:p>
          <a:p>
            <a:pPr lvl="1"/>
            <a:endParaRPr lang="en-US" sz="1800" dirty="0"/>
          </a:p>
          <a:p>
            <a:pPr lvl="1"/>
            <a:endParaRPr lang="en-US" sz="1800" dirty="0"/>
          </a:p>
          <a:p>
            <a:pPr lvl="1"/>
            <a:r>
              <a:rPr lang="en-US" sz="1800" dirty="0"/>
              <a:t>If I have one atom of 14C, there is </a:t>
            </a:r>
            <a:r>
              <a:rPr lang="en-US" sz="1800" i="1" dirty="0"/>
              <a:t>no way</a:t>
            </a:r>
            <a:r>
              <a:rPr lang="en-US" sz="1800" dirty="0"/>
              <a:t> I can predict when it will decay; HOWEVER</a:t>
            </a:r>
          </a:p>
          <a:p>
            <a:pPr lvl="1"/>
            <a:r>
              <a:rPr lang="en-US" sz="1800" dirty="0"/>
              <a:t>If I have 1 gram of 14C, then 5,730 year later I will have </a:t>
            </a:r>
            <a:r>
              <a:rPr lang="en-US" sz="1800" i="1" dirty="0"/>
              <a:t>very close </a:t>
            </a:r>
            <a:r>
              <a:rPr lang="en-US" sz="1800" dirty="0"/>
              <a:t>to .5 grams left.</a:t>
            </a:r>
          </a:p>
          <a:p>
            <a:pPr lvl="1"/>
            <a:r>
              <a:rPr lang="en-US" sz="1800" dirty="0"/>
              <a:t>How close?  Let’s look at that…</a:t>
            </a:r>
          </a:p>
        </p:txBody>
      </p:sp>
      <p:sp>
        <p:nvSpPr>
          <p:cNvPr id="4" name="Date Placeholder 3">
            <a:extLst>
              <a:ext uri="{FF2B5EF4-FFF2-40B4-BE49-F238E27FC236}">
                <a16:creationId xmlns:a16="http://schemas.microsoft.com/office/drawing/2014/main" id="{805B29B2-7600-E34B-4AB1-63D23631AEE2}"/>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B6F3572D-7618-01CC-009C-67010920DC5F}"/>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B6BC316F-771B-67CD-9BD6-88E43D2001E0}"/>
              </a:ext>
            </a:extLst>
          </p:cNvPr>
          <p:cNvSpPr>
            <a:spLocks noGrp="1"/>
          </p:cNvSpPr>
          <p:nvPr>
            <p:ph type="sldNum" sz="quarter" idx="12"/>
          </p:nvPr>
        </p:nvSpPr>
        <p:spPr/>
        <p:txBody>
          <a:bodyPr/>
          <a:lstStyle/>
          <a:p>
            <a:pPr>
              <a:defRPr/>
            </a:pPr>
            <a:fld id="{BCA26155-0DCC-45D2-90B6-32F65F3F6C0F}" type="slidenum">
              <a:rPr lang="en-US" smtClean="0"/>
              <a:pPr>
                <a:defRPr/>
              </a:pPr>
              <a:t>5</a:t>
            </a:fld>
            <a:endParaRPr lang="en-US"/>
          </a:p>
        </p:txBody>
      </p:sp>
      <p:pic>
        <p:nvPicPr>
          <p:cNvPr id="7" name="Picture 6">
            <a:extLst>
              <a:ext uri="{FF2B5EF4-FFF2-40B4-BE49-F238E27FC236}">
                <a16:creationId xmlns:a16="http://schemas.microsoft.com/office/drawing/2014/main" id="{A9598F33-10A3-0175-FCE0-8752E4861C2C}"/>
              </a:ext>
            </a:extLst>
          </p:cNvPr>
          <p:cNvPicPr>
            <a:picLocks noChangeAspect="1"/>
          </p:cNvPicPr>
          <p:nvPr/>
        </p:nvPicPr>
        <p:blipFill>
          <a:blip r:embed="rId2"/>
          <a:stretch>
            <a:fillRect/>
          </a:stretch>
        </p:blipFill>
        <p:spPr>
          <a:xfrm>
            <a:off x="2675164" y="3019324"/>
            <a:ext cx="2857500" cy="317500"/>
          </a:xfrm>
          <a:prstGeom prst="rect">
            <a:avLst/>
          </a:prstGeom>
        </p:spPr>
      </p:pic>
    </p:spTree>
    <p:extLst>
      <p:ext uri="{BB962C8B-B14F-4D97-AF65-F5344CB8AC3E}">
        <p14:creationId xmlns:p14="http://schemas.microsoft.com/office/powerpoint/2010/main" val="89819718"/>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FEF16-068A-DF34-5DB3-EF277B6C4E3E}"/>
              </a:ext>
            </a:extLst>
          </p:cNvPr>
          <p:cNvSpPr>
            <a:spLocks noGrp="1"/>
          </p:cNvSpPr>
          <p:nvPr>
            <p:ph type="title"/>
          </p:nvPr>
        </p:nvSpPr>
        <p:spPr/>
        <p:txBody>
          <a:bodyPr/>
          <a:lstStyle/>
          <a:p>
            <a:r>
              <a:rPr lang="en-US" dirty="0"/>
              <a:t>Example Statistical Distributions</a:t>
            </a:r>
          </a:p>
        </p:txBody>
      </p:sp>
      <p:sp>
        <p:nvSpPr>
          <p:cNvPr id="3" name="Content Placeholder 2">
            <a:extLst>
              <a:ext uri="{FF2B5EF4-FFF2-40B4-BE49-F238E27FC236}">
                <a16:creationId xmlns:a16="http://schemas.microsoft.com/office/drawing/2014/main" id="{66BC7311-1F64-BD66-E589-7B923FE06678}"/>
              </a:ext>
            </a:extLst>
          </p:cNvPr>
          <p:cNvSpPr>
            <a:spLocks noGrp="1"/>
          </p:cNvSpPr>
          <p:nvPr>
            <p:ph idx="1"/>
          </p:nvPr>
        </p:nvSpPr>
        <p:spPr/>
        <p:txBody>
          <a:bodyPr/>
          <a:lstStyle/>
          <a:p>
            <a:endParaRPr lang="en-US" dirty="0"/>
          </a:p>
          <a:p>
            <a:r>
              <a:rPr lang="en-US" dirty="0"/>
              <a:t>1 Die</a:t>
            </a:r>
          </a:p>
          <a:p>
            <a:pPr lvl="1"/>
            <a:endParaRPr lang="en-US" dirty="0"/>
          </a:p>
          <a:p>
            <a:pPr lvl="1"/>
            <a:endParaRPr lang="en-US" dirty="0"/>
          </a:p>
          <a:p>
            <a:pPr lvl="1"/>
            <a:r>
              <a:rPr lang="en-US" dirty="0"/>
              <a:t>Equal chances of coming</a:t>
            </a:r>
            <a:br>
              <a:rPr lang="en-US" dirty="0"/>
            </a:br>
            <a:r>
              <a:rPr lang="en-US" dirty="0"/>
              <a:t>up any number from 1 to 6</a:t>
            </a:r>
          </a:p>
          <a:p>
            <a:pPr marL="274320" lvl="1" indent="0">
              <a:buNone/>
            </a:pPr>
            <a:endParaRPr lang="en-US" dirty="0"/>
          </a:p>
          <a:p>
            <a:r>
              <a:rPr lang="en-US" dirty="0"/>
              <a:t>2 Dice</a:t>
            </a:r>
          </a:p>
          <a:p>
            <a:pPr lvl="1"/>
            <a:endParaRPr lang="en-US" dirty="0"/>
          </a:p>
          <a:p>
            <a:pPr lvl="1"/>
            <a:r>
              <a:rPr lang="en-US" dirty="0"/>
              <a:t>6x6=36 possible throws</a:t>
            </a:r>
          </a:p>
          <a:p>
            <a:pPr lvl="1"/>
            <a:r>
              <a:rPr lang="en-US" dirty="0"/>
              <a:t>1 way to make 2 or 12</a:t>
            </a:r>
          </a:p>
          <a:p>
            <a:pPr lvl="1"/>
            <a:r>
              <a:rPr lang="en-US" dirty="0"/>
              <a:t>2 ways to make 3 or 11</a:t>
            </a:r>
          </a:p>
          <a:p>
            <a:pPr lvl="1"/>
            <a:endParaRPr lang="en-US" dirty="0"/>
          </a:p>
          <a:p>
            <a:pPr lvl="1"/>
            <a:r>
              <a:rPr lang="en-US" dirty="0"/>
              <a:t>6 ways to make 7</a:t>
            </a:r>
          </a:p>
        </p:txBody>
      </p:sp>
      <p:sp>
        <p:nvSpPr>
          <p:cNvPr id="4" name="Date Placeholder 3">
            <a:extLst>
              <a:ext uri="{FF2B5EF4-FFF2-40B4-BE49-F238E27FC236}">
                <a16:creationId xmlns:a16="http://schemas.microsoft.com/office/drawing/2014/main" id="{F18DF287-23F2-8A18-D5FE-645B1F8FB32F}"/>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0400AB9D-020A-FBA5-9757-3381FC572489}"/>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F8D0F360-20D6-BE1D-825A-DBE851D09EA4}"/>
              </a:ext>
            </a:extLst>
          </p:cNvPr>
          <p:cNvSpPr>
            <a:spLocks noGrp="1"/>
          </p:cNvSpPr>
          <p:nvPr>
            <p:ph type="sldNum" sz="quarter" idx="12"/>
          </p:nvPr>
        </p:nvSpPr>
        <p:spPr/>
        <p:txBody>
          <a:bodyPr/>
          <a:lstStyle/>
          <a:p>
            <a:pPr>
              <a:defRPr/>
            </a:pPr>
            <a:fld id="{BCA26155-0DCC-45D2-90B6-32F65F3F6C0F}" type="slidenum">
              <a:rPr lang="en-US" smtClean="0"/>
              <a:pPr>
                <a:defRPr/>
              </a:pPr>
              <a:t>6</a:t>
            </a:fld>
            <a:endParaRPr lang="en-US"/>
          </a:p>
        </p:txBody>
      </p:sp>
      <p:pic>
        <p:nvPicPr>
          <p:cNvPr id="1026" name="Picture 2">
            <a:extLst>
              <a:ext uri="{FF2B5EF4-FFF2-40B4-BE49-F238E27FC236}">
                <a16:creationId xmlns:a16="http://schemas.microsoft.com/office/drawing/2014/main" id="{6A00B2C3-B110-8582-7551-586CBD05C8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56" t="6250" r="7142" b="1484"/>
          <a:stretch>
            <a:fillRect/>
          </a:stretch>
        </p:blipFill>
        <p:spPr bwMode="auto">
          <a:xfrm>
            <a:off x="4717603" y="1223631"/>
            <a:ext cx="3191957" cy="244334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ir of White Dice">
            <a:extLst>
              <a:ext uri="{FF2B5EF4-FFF2-40B4-BE49-F238E27FC236}">
                <a16:creationId xmlns:a16="http://schemas.microsoft.com/office/drawing/2014/main" id="{7A716BD7-67C2-501B-A27B-D4DF5D7015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62" t="12380" r="48889" b="33969"/>
          <a:stretch>
            <a:fillRect/>
          </a:stretch>
        </p:blipFill>
        <p:spPr bwMode="auto">
          <a:xfrm>
            <a:off x="2645228" y="1391964"/>
            <a:ext cx="958758" cy="110979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ir of White Dice">
            <a:extLst>
              <a:ext uri="{FF2B5EF4-FFF2-40B4-BE49-F238E27FC236}">
                <a16:creationId xmlns:a16="http://schemas.microsoft.com/office/drawing/2014/main" id="{E4DECD02-331C-697B-D454-2297C61415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92" t="11746" r="2370" b="17235"/>
          <a:stretch>
            <a:fillRect/>
          </a:stretch>
        </p:blipFill>
        <p:spPr bwMode="auto">
          <a:xfrm>
            <a:off x="2324507" y="3429000"/>
            <a:ext cx="1600200" cy="120720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D0D1BE3-0321-0862-BF92-F1000BDA8BF8}"/>
              </a:ext>
            </a:extLst>
          </p:cNvPr>
          <p:cNvPicPr>
            <a:picLocks noChangeAspect="1"/>
          </p:cNvPicPr>
          <p:nvPr/>
        </p:nvPicPr>
        <p:blipFill>
          <a:blip r:embed="rId4"/>
          <a:stretch>
            <a:fillRect/>
          </a:stretch>
        </p:blipFill>
        <p:spPr>
          <a:xfrm>
            <a:off x="2032000" y="5756275"/>
            <a:ext cx="59047" cy="324757"/>
          </a:xfrm>
          <a:prstGeom prst="rect">
            <a:avLst/>
          </a:prstGeom>
        </p:spPr>
      </p:pic>
      <p:pic>
        <p:nvPicPr>
          <p:cNvPr id="1032" name="Picture 8">
            <a:extLst>
              <a:ext uri="{FF2B5EF4-FFF2-40B4-BE49-F238E27FC236}">
                <a16:creationId xmlns:a16="http://schemas.microsoft.com/office/drawing/2014/main" id="{D318A2AF-A496-BE92-921C-584538769E4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27" t="6496" r="8937" b="2548"/>
          <a:stretch>
            <a:fillRect/>
          </a:stretch>
        </p:blipFill>
        <p:spPr bwMode="auto">
          <a:xfrm>
            <a:off x="4757384" y="3869650"/>
            <a:ext cx="3120837" cy="241011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161E063-3637-C6A3-256E-41159235A284}"/>
              </a:ext>
            </a:extLst>
          </p:cNvPr>
          <p:cNvSpPr txBox="1"/>
          <p:nvPr/>
        </p:nvSpPr>
        <p:spPr>
          <a:xfrm>
            <a:off x="6433457" y="6487886"/>
            <a:ext cx="2237856" cy="307777"/>
          </a:xfrm>
          <a:prstGeom prst="rect">
            <a:avLst/>
          </a:prstGeom>
          <a:noFill/>
        </p:spPr>
        <p:txBody>
          <a:bodyPr wrap="square" rtlCol="0">
            <a:spAutoFit/>
          </a:bodyPr>
          <a:lstStyle/>
          <a:p>
            <a:pPr algn="r"/>
            <a:r>
              <a:rPr lang="en-US" sz="1400" dirty="0">
                <a:latin typeface="+mn-lt"/>
              </a:rPr>
              <a:t>(Go do demo…)</a:t>
            </a:r>
          </a:p>
        </p:txBody>
      </p:sp>
    </p:spTree>
    <p:extLst>
      <p:ext uri="{BB962C8B-B14F-4D97-AF65-F5344CB8AC3E}">
        <p14:creationId xmlns:p14="http://schemas.microsoft.com/office/powerpoint/2010/main" val="3607969896"/>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D2FE4-FD40-BF88-7A9E-466629B4F60E}"/>
              </a:ext>
            </a:extLst>
          </p:cNvPr>
          <p:cNvSpPr>
            <a:spLocks noGrp="1"/>
          </p:cNvSpPr>
          <p:nvPr>
            <p:ph type="title"/>
          </p:nvPr>
        </p:nvSpPr>
        <p:spPr/>
        <p:txBody>
          <a:bodyPr>
            <a:normAutofit/>
          </a:bodyPr>
          <a:lstStyle/>
          <a:p>
            <a:r>
              <a:rPr lang="en-US" dirty="0"/>
              <a:t>Central Limit Theorem</a:t>
            </a:r>
          </a:p>
        </p:txBody>
      </p:sp>
      <p:sp>
        <p:nvSpPr>
          <p:cNvPr id="3" name="Content Placeholder 2">
            <a:extLst>
              <a:ext uri="{FF2B5EF4-FFF2-40B4-BE49-F238E27FC236}">
                <a16:creationId xmlns:a16="http://schemas.microsoft.com/office/drawing/2014/main" id="{BFDB54F6-39F4-6669-210B-C72517F0FB50}"/>
              </a:ext>
            </a:extLst>
          </p:cNvPr>
          <p:cNvSpPr>
            <a:spLocks noGrp="1"/>
          </p:cNvSpPr>
          <p:nvPr>
            <p:ph idx="1"/>
          </p:nvPr>
        </p:nvSpPr>
        <p:spPr>
          <a:xfrm>
            <a:off x="441713" y="1182021"/>
            <a:ext cx="8229600" cy="5657691"/>
          </a:xfrm>
        </p:spPr>
        <p:txBody>
          <a:bodyPr>
            <a:normAutofit/>
          </a:bodyPr>
          <a:lstStyle/>
          <a:p>
            <a:r>
              <a:rPr lang="en-US" sz="1800" dirty="0"/>
              <a:t>No matter what distribution you start with, the distribution of averages, </a:t>
            </a:r>
            <a:r>
              <a:rPr lang="en-US" sz="1800" i="1" dirty="0"/>
              <a:t>or anything calculated from those averages</a:t>
            </a:r>
            <a:r>
              <a:rPr lang="en-US" sz="1800" dirty="0"/>
              <a:t>, will approach a “normal distribution”</a:t>
            </a:r>
          </a:p>
          <a:p>
            <a:pPr lvl="1"/>
            <a:r>
              <a:rPr lang="en-US" sz="1600" dirty="0"/>
              <a:t>AKA “Gaussian Distribution” or “Bell Curve”</a:t>
            </a:r>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pPr lvl="1"/>
            <a:endParaRPr lang="en-US" sz="1600" dirty="0"/>
          </a:p>
          <a:p>
            <a:pPr lvl="1"/>
            <a:r>
              <a:rPr lang="en-US" sz="1600" dirty="0"/>
              <a:t>Note:</a:t>
            </a:r>
          </a:p>
          <a:p>
            <a:pPr lvl="2"/>
            <a:r>
              <a:rPr lang="en-US" sz="1400" dirty="0"/>
              <a:t>The error on a result is usually 1</a:t>
            </a:r>
            <a:r>
              <a:rPr lang="en-US" sz="1400" dirty="0">
                <a:latin typeface="Symbol" pitchFamily="2" charset="2"/>
              </a:rPr>
              <a:t>s</a:t>
            </a:r>
          </a:p>
          <a:p>
            <a:pPr lvl="2"/>
            <a:r>
              <a:rPr lang="en-US" sz="1400" dirty="0"/>
              <a:t>Statistically, 1 in 3 events will be more than 1</a:t>
            </a:r>
            <a:r>
              <a:rPr lang="en-US" sz="1400" dirty="0">
                <a:latin typeface="Symbol" pitchFamily="2" charset="2"/>
              </a:rPr>
              <a:t>s</a:t>
            </a:r>
            <a:r>
              <a:rPr lang="en-US" sz="1400" dirty="0"/>
              <a:t> from the mean!</a:t>
            </a:r>
          </a:p>
        </p:txBody>
      </p:sp>
      <p:sp>
        <p:nvSpPr>
          <p:cNvPr id="4" name="Date Placeholder 3">
            <a:extLst>
              <a:ext uri="{FF2B5EF4-FFF2-40B4-BE49-F238E27FC236}">
                <a16:creationId xmlns:a16="http://schemas.microsoft.com/office/drawing/2014/main" id="{76D52648-F9EF-40B5-D3F0-23C5ABBF7016}"/>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27776C19-9DF1-BB23-D6AB-D4175C660E2E}"/>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4C178F40-02CF-78F8-5F64-A9E046AED1F9}"/>
              </a:ext>
            </a:extLst>
          </p:cNvPr>
          <p:cNvSpPr>
            <a:spLocks noGrp="1"/>
          </p:cNvSpPr>
          <p:nvPr>
            <p:ph type="sldNum" sz="quarter" idx="12"/>
          </p:nvPr>
        </p:nvSpPr>
        <p:spPr/>
        <p:txBody>
          <a:bodyPr/>
          <a:lstStyle/>
          <a:p>
            <a:pPr>
              <a:defRPr/>
            </a:pPr>
            <a:fld id="{BCA26155-0DCC-45D2-90B6-32F65F3F6C0F}" type="slidenum">
              <a:rPr lang="en-US" smtClean="0"/>
              <a:pPr>
                <a:defRPr/>
              </a:pPr>
              <a:t>7</a:t>
            </a:fld>
            <a:endParaRPr lang="en-US"/>
          </a:p>
        </p:txBody>
      </p:sp>
      <p:pic>
        <p:nvPicPr>
          <p:cNvPr id="8" name="Picture 7">
            <a:extLst>
              <a:ext uri="{FF2B5EF4-FFF2-40B4-BE49-F238E27FC236}">
                <a16:creationId xmlns:a16="http://schemas.microsoft.com/office/drawing/2014/main" id="{45B48C85-F4BA-2E4A-8A60-97E1B310EE24}"/>
              </a:ext>
            </a:extLst>
          </p:cNvPr>
          <p:cNvPicPr>
            <a:picLocks noChangeAspect="1"/>
          </p:cNvPicPr>
          <p:nvPr/>
        </p:nvPicPr>
        <p:blipFill>
          <a:blip r:embed="rId2"/>
          <a:srcRect l="4351" t="4000" r="6124" b="2287"/>
          <a:stretch>
            <a:fillRect/>
          </a:stretch>
        </p:blipFill>
        <p:spPr>
          <a:xfrm>
            <a:off x="389457" y="2264228"/>
            <a:ext cx="5264084" cy="3570514"/>
          </a:xfrm>
          <a:prstGeom prst="rect">
            <a:avLst/>
          </a:prstGeom>
        </p:spPr>
      </p:pic>
      <p:sp>
        <p:nvSpPr>
          <p:cNvPr id="9" name="TextBox 8">
            <a:extLst>
              <a:ext uri="{FF2B5EF4-FFF2-40B4-BE49-F238E27FC236}">
                <a16:creationId xmlns:a16="http://schemas.microsoft.com/office/drawing/2014/main" id="{EE132DA8-09D4-EA42-249F-AFB70068DEB2}"/>
              </a:ext>
            </a:extLst>
          </p:cNvPr>
          <p:cNvSpPr txBox="1"/>
          <p:nvPr/>
        </p:nvSpPr>
        <p:spPr>
          <a:xfrm>
            <a:off x="5856514" y="2177143"/>
            <a:ext cx="3102429" cy="2893100"/>
          </a:xfrm>
          <a:prstGeom prst="rect">
            <a:avLst/>
          </a:prstGeom>
          <a:noFill/>
        </p:spPr>
        <p:txBody>
          <a:bodyPr wrap="square" rtlCol="0">
            <a:spAutoFit/>
          </a:bodyPr>
          <a:lstStyle/>
          <a:p>
            <a:r>
              <a:rPr lang="en-US" sz="1400" dirty="0">
                <a:latin typeface="+mn-lt"/>
              </a:rPr>
              <a:t>Characterized by…</a:t>
            </a:r>
          </a:p>
          <a:p>
            <a:pPr marL="285750" indent="-166688">
              <a:buFont typeface="Arial" panose="020B0604020202020204" pitchFamily="34" charset="0"/>
              <a:buChar char="•"/>
            </a:pPr>
            <a:r>
              <a:rPr lang="en-US" sz="1400" dirty="0">
                <a:latin typeface="+mn-lt"/>
              </a:rPr>
              <a:t>The mean (</a:t>
            </a:r>
            <a:r>
              <a:rPr lang="en-US" sz="1400" dirty="0">
                <a:latin typeface="Symbol" pitchFamily="2" charset="2"/>
              </a:rPr>
              <a:t>m</a:t>
            </a:r>
            <a:r>
              <a:rPr lang="en-US" sz="1400" dirty="0">
                <a:latin typeface="+mn-lt"/>
              </a:rPr>
              <a:t>)</a:t>
            </a:r>
          </a:p>
          <a:p>
            <a:pPr marL="285750" indent="-166688">
              <a:buFont typeface="Arial" panose="020B0604020202020204" pitchFamily="34" charset="0"/>
              <a:buChar char="•"/>
            </a:pPr>
            <a:endParaRPr lang="en-US" sz="1400" dirty="0">
              <a:latin typeface="+mn-lt"/>
            </a:endParaRPr>
          </a:p>
          <a:p>
            <a:pPr marL="119062"/>
            <a:endParaRPr lang="en-US" sz="1400" dirty="0">
              <a:latin typeface="+mn-lt"/>
            </a:endParaRPr>
          </a:p>
          <a:p>
            <a:pPr marL="285750" indent="-166688">
              <a:buFont typeface="Arial" panose="020B0604020202020204" pitchFamily="34" charset="0"/>
              <a:buChar char="•"/>
            </a:pPr>
            <a:endParaRPr lang="en-US" sz="1400" dirty="0">
              <a:latin typeface="+mn-lt"/>
            </a:endParaRPr>
          </a:p>
          <a:p>
            <a:pPr marL="285750" indent="-166688">
              <a:buFont typeface="Arial" panose="020B0604020202020204" pitchFamily="34" charset="0"/>
              <a:buChar char="•"/>
            </a:pPr>
            <a:endParaRPr lang="en-US" sz="1400" dirty="0">
              <a:latin typeface="+mn-lt"/>
            </a:endParaRPr>
          </a:p>
          <a:p>
            <a:pPr marL="285750" indent="-166688">
              <a:buFont typeface="Arial" panose="020B0604020202020204" pitchFamily="34" charset="0"/>
              <a:buChar char="•"/>
            </a:pPr>
            <a:r>
              <a:rPr lang="en-US" sz="1400" dirty="0">
                <a:latin typeface="+mn-lt"/>
              </a:rPr>
              <a:t>The standard deviation (</a:t>
            </a:r>
            <a:r>
              <a:rPr lang="en-US" sz="1400" dirty="0">
                <a:latin typeface="Symbol" pitchFamily="2" charset="2"/>
              </a:rPr>
              <a:t>s</a:t>
            </a:r>
            <a:r>
              <a:rPr lang="en-US" sz="1400" dirty="0">
                <a:latin typeface="+mn-lt"/>
              </a:rPr>
              <a:t>)</a:t>
            </a:r>
          </a:p>
          <a:p>
            <a:pPr marL="285750" indent="-166688">
              <a:buFont typeface="Arial" panose="020B0604020202020204" pitchFamily="34" charset="0"/>
              <a:buChar char="•"/>
            </a:pPr>
            <a:endParaRPr lang="en-US" sz="1400" dirty="0">
              <a:latin typeface="+mn-lt"/>
            </a:endParaRPr>
          </a:p>
          <a:p>
            <a:pPr marL="285750" indent="-166688">
              <a:buFont typeface="Arial" panose="020B0604020202020204" pitchFamily="34" charset="0"/>
              <a:buChar char="•"/>
            </a:pPr>
            <a:endParaRPr lang="en-US" sz="1400" dirty="0">
              <a:latin typeface="+mn-lt"/>
            </a:endParaRPr>
          </a:p>
          <a:p>
            <a:pPr marL="285750" indent="-166688">
              <a:buFont typeface="Arial" panose="020B0604020202020204" pitchFamily="34" charset="0"/>
              <a:buChar char="•"/>
            </a:pPr>
            <a:endParaRPr lang="en-US" sz="1400" dirty="0">
              <a:latin typeface="+mn-lt"/>
            </a:endParaRPr>
          </a:p>
          <a:p>
            <a:pPr marL="285750" indent="-166688">
              <a:buFont typeface="Arial" panose="020B0604020202020204" pitchFamily="34" charset="0"/>
              <a:buChar char="•"/>
            </a:pPr>
            <a:endParaRPr lang="en-US" sz="1400" dirty="0">
              <a:latin typeface="+mn-lt"/>
            </a:endParaRPr>
          </a:p>
          <a:p>
            <a:pPr marL="285750" indent="-166688">
              <a:buFont typeface="Arial" panose="020B0604020202020204" pitchFamily="34" charset="0"/>
              <a:buChar char="•"/>
            </a:pPr>
            <a:endParaRPr lang="en-US" sz="1400" dirty="0">
              <a:latin typeface="+mn-lt"/>
            </a:endParaRPr>
          </a:p>
          <a:p>
            <a:pPr marL="285750" indent="-166688">
              <a:buFont typeface="Arial" panose="020B0604020202020204" pitchFamily="34" charset="0"/>
              <a:buChar char="•"/>
            </a:pPr>
            <a:r>
              <a:rPr lang="en-US" sz="1400" dirty="0">
                <a:latin typeface="+mn-lt"/>
              </a:rPr>
              <a:t>The ”probability density function”</a:t>
            </a:r>
          </a:p>
        </p:txBody>
      </p:sp>
      <p:pic>
        <p:nvPicPr>
          <p:cNvPr id="10" name="Picture 9">
            <a:extLst>
              <a:ext uri="{FF2B5EF4-FFF2-40B4-BE49-F238E27FC236}">
                <a16:creationId xmlns:a16="http://schemas.microsoft.com/office/drawing/2014/main" id="{3CF8AE0C-B67A-A961-52AE-D4453CE14218}"/>
              </a:ext>
            </a:extLst>
          </p:cNvPr>
          <p:cNvPicPr>
            <a:picLocks noChangeAspect="1"/>
          </p:cNvPicPr>
          <p:nvPr/>
        </p:nvPicPr>
        <p:blipFill>
          <a:blip r:embed="rId3"/>
          <a:stretch>
            <a:fillRect/>
          </a:stretch>
        </p:blipFill>
        <p:spPr>
          <a:xfrm>
            <a:off x="6635511" y="2775679"/>
            <a:ext cx="1274049" cy="632570"/>
          </a:xfrm>
          <a:prstGeom prst="rect">
            <a:avLst/>
          </a:prstGeom>
        </p:spPr>
      </p:pic>
      <p:pic>
        <p:nvPicPr>
          <p:cNvPr id="11" name="Picture 10">
            <a:extLst>
              <a:ext uri="{FF2B5EF4-FFF2-40B4-BE49-F238E27FC236}">
                <a16:creationId xmlns:a16="http://schemas.microsoft.com/office/drawing/2014/main" id="{2EBC0BF3-91D0-8FED-17C6-9209DDB3230F}"/>
              </a:ext>
            </a:extLst>
          </p:cNvPr>
          <p:cNvPicPr>
            <a:picLocks noChangeAspect="1"/>
          </p:cNvPicPr>
          <p:nvPr/>
        </p:nvPicPr>
        <p:blipFill>
          <a:blip r:embed="rId4"/>
          <a:stretch>
            <a:fillRect/>
          </a:stretch>
        </p:blipFill>
        <p:spPr>
          <a:xfrm>
            <a:off x="6262460" y="3822349"/>
            <a:ext cx="2290536" cy="833793"/>
          </a:xfrm>
          <a:prstGeom prst="rect">
            <a:avLst/>
          </a:prstGeom>
        </p:spPr>
      </p:pic>
      <p:pic>
        <p:nvPicPr>
          <p:cNvPr id="12" name="Picture 11">
            <a:extLst>
              <a:ext uri="{FF2B5EF4-FFF2-40B4-BE49-F238E27FC236}">
                <a16:creationId xmlns:a16="http://schemas.microsoft.com/office/drawing/2014/main" id="{943CDEB5-59C0-F8EE-D8B9-732E79182C0C}"/>
              </a:ext>
            </a:extLst>
          </p:cNvPr>
          <p:cNvPicPr>
            <a:picLocks noChangeAspect="1"/>
          </p:cNvPicPr>
          <p:nvPr/>
        </p:nvPicPr>
        <p:blipFill>
          <a:blip r:embed="rId5"/>
          <a:stretch>
            <a:fillRect/>
          </a:stretch>
        </p:blipFill>
        <p:spPr>
          <a:xfrm>
            <a:off x="5884205" y="5185561"/>
            <a:ext cx="3074738" cy="597564"/>
          </a:xfrm>
          <a:prstGeom prst="rect">
            <a:avLst/>
          </a:prstGeom>
        </p:spPr>
      </p:pic>
    </p:spTree>
    <p:extLst>
      <p:ext uri="{BB962C8B-B14F-4D97-AF65-F5344CB8AC3E}">
        <p14:creationId xmlns:p14="http://schemas.microsoft.com/office/powerpoint/2010/main" val="2054832501"/>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FA984-E531-A063-E4C7-EB011F74A811}"/>
              </a:ext>
            </a:extLst>
          </p:cNvPr>
          <p:cNvSpPr>
            <a:spLocks noGrp="1"/>
          </p:cNvSpPr>
          <p:nvPr>
            <p:ph type="title"/>
          </p:nvPr>
        </p:nvSpPr>
        <p:spPr/>
        <p:txBody>
          <a:bodyPr/>
          <a:lstStyle/>
          <a:p>
            <a:r>
              <a:rPr lang="en-US" dirty="0"/>
              <a:t>Understanding The Normal Distributions</a:t>
            </a:r>
          </a:p>
        </p:txBody>
      </p:sp>
      <p:sp>
        <p:nvSpPr>
          <p:cNvPr id="3" name="Content Placeholder 2">
            <a:extLst>
              <a:ext uri="{FF2B5EF4-FFF2-40B4-BE49-F238E27FC236}">
                <a16:creationId xmlns:a16="http://schemas.microsoft.com/office/drawing/2014/main" id="{C297E1BE-6DD3-A33F-3D5B-CC336372BAE2}"/>
              </a:ext>
            </a:extLst>
          </p:cNvPr>
          <p:cNvSpPr>
            <a:spLocks noGrp="1"/>
          </p:cNvSpPr>
          <p:nvPr>
            <p:ph idx="1"/>
          </p:nvPr>
        </p:nvSpPr>
        <p:spPr/>
        <p:txBody>
          <a:bodyPr>
            <a:normAutofit/>
          </a:bodyPr>
          <a:lstStyle/>
          <a:p>
            <a:r>
              <a:rPr lang="en-US" sz="2000" dirty="0"/>
              <a:t>In most cases, “discoveries” are presented in terms of the probability that the observation is result of statistical fluctuations of the “null hypothesis”, but how unlikely does it have to be for us to be persuaded?</a:t>
            </a:r>
          </a:p>
        </p:txBody>
      </p:sp>
      <p:sp>
        <p:nvSpPr>
          <p:cNvPr id="4" name="Date Placeholder 3">
            <a:extLst>
              <a:ext uri="{FF2B5EF4-FFF2-40B4-BE49-F238E27FC236}">
                <a16:creationId xmlns:a16="http://schemas.microsoft.com/office/drawing/2014/main" id="{93610017-32CF-BB43-48BC-D1F89BD14F8D}"/>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50D9043A-4F05-5188-79B6-A72483D2DBE4}"/>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97F916EC-105F-6D92-E758-87ACAF819675}"/>
              </a:ext>
            </a:extLst>
          </p:cNvPr>
          <p:cNvSpPr>
            <a:spLocks noGrp="1"/>
          </p:cNvSpPr>
          <p:nvPr>
            <p:ph type="sldNum" sz="quarter" idx="12"/>
          </p:nvPr>
        </p:nvSpPr>
        <p:spPr/>
        <p:txBody>
          <a:bodyPr/>
          <a:lstStyle/>
          <a:p>
            <a:pPr>
              <a:defRPr/>
            </a:pPr>
            <a:fld id="{BCA26155-0DCC-45D2-90B6-32F65F3F6C0F}" type="slidenum">
              <a:rPr lang="en-US" smtClean="0"/>
              <a:pPr>
                <a:defRPr/>
              </a:pPr>
              <a:t>8</a:t>
            </a:fld>
            <a:endParaRPr lang="en-US"/>
          </a:p>
        </p:txBody>
      </p:sp>
      <p:pic>
        <p:nvPicPr>
          <p:cNvPr id="3074" name="Picture 2">
            <a:extLst>
              <a:ext uri="{FF2B5EF4-FFF2-40B4-BE49-F238E27FC236}">
                <a16:creationId xmlns:a16="http://schemas.microsoft.com/office/drawing/2014/main" id="{06B9F0E7-9087-81DA-D94A-CA84E5563C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128" y="2414415"/>
            <a:ext cx="5707743" cy="4280807"/>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44762D94-193D-CC85-B88F-A15B6167ADD7}"/>
              </a:ext>
            </a:extLst>
          </p:cNvPr>
          <p:cNvSpPr/>
          <p:nvPr/>
        </p:nvSpPr>
        <p:spPr>
          <a:xfrm>
            <a:off x="4556513" y="3559629"/>
            <a:ext cx="733944" cy="185057"/>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59790E5-B228-9F30-2E26-5477E7659826}"/>
              </a:ext>
            </a:extLst>
          </p:cNvPr>
          <p:cNvSpPr txBox="1"/>
          <p:nvPr/>
        </p:nvSpPr>
        <p:spPr>
          <a:xfrm>
            <a:off x="6106885" y="3058886"/>
            <a:ext cx="2383971" cy="2800767"/>
          </a:xfrm>
          <a:prstGeom prst="rect">
            <a:avLst/>
          </a:prstGeom>
          <a:noFill/>
        </p:spPr>
        <p:txBody>
          <a:bodyPr wrap="square" rtlCol="0">
            <a:spAutoFit/>
          </a:bodyPr>
          <a:lstStyle/>
          <a:p>
            <a:r>
              <a:rPr lang="en-US" sz="1600" dirty="0">
                <a:latin typeface="+mn-lt"/>
              </a:rPr>
              <a:t>In 1000 throws, I got 3 greater than 3</a:t>
            </a:r>
            <a:r>
              <a:rPr lang="en-US" sz="1600" dirty="0">
                <a:latin typeface="Symbol" pitchFamily="2" charset="2"/>
              </a:rPr>
              <a:t>s</a:t>
            </a:r>
          </a:p>
          <a:p>
            <a:endParaRPr lang="en-US" sz="1600" dirty="0">
              <a:latin typeface="Symbol" pitchFamily="2" charset="2"/>
            </a:endParaRPr>
          </a:p>
          <a:p>
            <a:endParaRPr lang="en-US" sz="1600" dirty="0">
              <a:latin typeface="Symbol" pitchFamily="2" charset="2"/>
            </a:endParaRPr>
          </a:p>
          <a:p>
            <a:r>
              <a:rPr lang="en-US" sz="1600" dirty="0">
                <a:latin typeface="+mn-lt"/>
              </a:rPr>
              <a:t>Now consider doing a whole bunch or different studies. Roughly 3 out of 1000 of them will have show a 3</a:t>
            </a:r>
            <a:r>
              <a:rPr lang="en-US" sz="1600" dirty="0">
                <a:latin typeface="Symbol" pitchFamily="2" charset="2"/>
              </a:rPr>
              <a:t>s</a:t>
            </a:r>
            <a:r>
              <a:rPr lang="en-US" sz="1600" dirty="0">
                <a:latin typeface="+mn-lt"/>
              </a:rPr>
              <a:t> effect, due entirely to statistical fluctuation!</a:t>
            </a:r>
          </a:p>
        </p:txBody>
      </p:sp>
    </p:spTree>
    <p:extLst>
      <p:ext uri="{BB962C8B-B14F-4D97-AF65-F5344CB8AC3E}">
        <p14:creationId xmlns:p14="http://schemas.microsoft.com/office/powerpoint/2010/main" val="524018680"/>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6C5E8-A769-2972-46F7-12ACB9E34FC4}"/>
              </a:ext>
            </a:extLst>
          </p:cNvPr>
          <p:cNvSpPr>
            <a:spLocks noGrp="1"/>
          </p:cNvSpPr>
          <p:nvPr>
            <p:ph type="title"/>
          </p:nvPr>
        </p:nvSpPr>
        <p:spPr/>
        <p:txBody>
          <a:bodyPr/>
          <a:lstStyle/>
          <a:p>
            <a:r>
              <a:rPr lang="en-US" dirty="0"/>
              <a:t>More Statistics -&gt; More Precision</a:t>
            </a:r>
          </a:p>
        </p:txBody>
      </p:sp>
      <p:sp>
        <p:nvSpPr>
          <p:cNvPr id="3" name="Content Placeholder 2">
            <a:extLst>
              <a:ext uri="{FF2B5EF4-FFF2-40B4-BE49-F238E27FC236}">
                <a16:creationId xmlns:a16="http://schemas.microsoft.com/office/drawing/2014/main" id="{87C188DD-E5FF-D16C-C134-269EC683EA67}"/>
              </a:ext>
            </a:extLst>
          </p:cNvPr>
          <p:cNvSpPr>
            <a:spLocks noGrp="1"/>
          </p:cNvSpPr>
          <p:nvPr>
            <p:ph idx="1"/>
          </p:nvPr>
        </p:nvSpPr>
        <p:spPr/>
        <p:txBody>
          <a:bodyPr>
            <a:normAutofit/>
          </a:bodyPr>
          <a:lstStyle/>
          <a:p>
            <a:r>
              <a:rPr lang="en-US" sz="1800" dirty="0"/>
              <a:t>Consider a coin flip </a:t>
            </a:r>
          </a:p>
          <a:p>
            <a:pPr lvl="1"/>
            <a:r>
              <a:rPr lang="en-US" sz="1600" dirty="0"/>
              <a:t>50% chance of heads, 50% chance of tails</a:t>
            </a:r>
          </a:p>
          <a:p>
            <a:pPr lvl="1"/>
            <a:r>
              <a:rPr lang="en-US" sz="1600" dirty="0"/>
              <a:t>The more times if flip, the closer I get to exactly 50% heads</a:t>
            </a:r>
          </a:p>
          <a:p>
            <a:r>
              <a:rPr lang="en-US" sz="1800" dirty="0"/>
              <a:t>For each of these, I do a certain number of flips, and then repeat the experiment 10,000 times</a:t>
            </a:r>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r>
              <a:rPr lang="en-US" sz="1800" dirty="0"/>
              <a:t>The average fraction of heads will (of course) </a:t>
            </a:r>
            <a:br>
              <a:rPr lang="en-US" sz="1800" dirty="0"/>
            </a:br>
            <a:r>
              <a:rPr lang="en-US" sz="1800" dirty="0"/>
              <a:t>be ½, and the standard deviation of that value will be</a:t>
            </a:r>
          </a:p>
        </p:txBody>
      </p:sp>
      <p:sp>
        <p:nvSpPr>
          <p:cNvPr id="4" name="Date Placeholder 3">
            <a:extLst>
              <a:ext uri="{FF2B5EF4-FFF2-40B4-BE49-F238E27FC236}">
                <a16:creationId xmlns:a16="http://schemas.microsoft.com/office/drawing/2014/main" id="{AF069A7D-260A-7DA1-701B-A3E751F9EE8D}"/>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9996DD73-492B-F43E-669A-0C2EC8EDD8F2}"/>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9248BA83-1E0C-8C91-C56C-EC9E516EB894}"/>
              </a:ext>
            </a:extLst>
          </p:cNvPr>
          <p:cNvSpPr>
            <a:spLocks noGrp="1"/>
          </p:cNvSpPr>
          <p:nvPr>
            <p:ph type="sldNum" sz="quarter" idx="12"/>
          </p:nvPr>
        </p:nvSpPr>
        <p:spPr/>
        <p:txBody>
          <a:bodyPr/>
          <a:lstStyle/>
          <a:p>
            <a:pPr>
              <a:defRPr/>
            </a:pPr>
            <a:fld id="{BCA26155-0DCC-45D2-90B6-32F65F3F6C0F}" type="slidenum">
              <a:rPr lang="en-US" smtClean="0"/>
              <a:pPr>
                <a:defRPr/>
              </a:pPr>
              <a:t>9</a:t>
            </a:fld>
            <a:endParaRPr lang="en-US"/>
          </a:p>
        </p:txBody>
      </p:sp>
      <p:pic>
        <p:nvPicPr>
          <p:cNvPr id="14" name="Picture 13">
            <a:extLst>
              <a:ext uri="{FF2B5EF4-FFF2-40B4-BE49-F238E27FC236}">
                <a16:creationId xmlns:a16="http://schemas.microsoft.com/office/drawing/2014/main" id="{8B765AED-87E3-0442-B01B-86831ECD06A1}"/>
              </a:ext>
            </a:extLst>
          </p:cNvPr>
          <p:cNvPicPr>
            <a:picLocks noChangeAspect="1"/>
          </p:cNvPicPr>
          <p:nvPr/>
        </p:nvPicPr>
        <p:blipFill>
          <a:blip r:embed="rId2"/>
          <a:stretch>
            <a:fillRect/>
          </a:stretch>
        </p:blipFill>
        <p:spPr>
          <a:xfrm>
            <a:off x="6036273" y="2782882"/>
            <a:ext cx="3069628" cy="2382719"/>
          </a:xfrm>
          <a:prstGeom prst="rect">
            <a:avLst/>
          </a:prstGeom>
        </p:spPr>
      </p:pic>
      <p:pic>
        <p:nvPicPr>
          <p:cNvPr id="15" name="Picture 14">
            <a:extLst>
              <a:ext uri="{FF2B5EF4-FFF2-40B4-BE49-F238E27FC236}">
                <a16:creationId xmlns:a16="http://schemas.microsoft.com/office/drawing/2014/main" id="{96B9137B-C8AA-A3F2-AF0A-7C62F1C51893}"/>
              </a:ext>
            </a:extLst>
          </p:cNvPr>
          <p:cNvPicPr>
            <a:picLocks noChangeAspect="1"/>
          </p:cNvPicPr>
          <p:nvPr/>
        </p:nvPicPr>
        <p:blipFill>
          <a:blip r:embed="rId3"/>
          <a:stretch>
            <a:fillRect/>
          </a:stretch>
        </p:blipFill>
        <p:spPr>
          <a:xfrm>
            <a:off x="3130492" y="2766208"/>
            <a:ext cx="3042867" cy="2399393"/>
          </a:xfrm>
          <a:prstGeom prst="rect">
            <a:avLst/>
          </a:prstGeom>
        </p:spPr>
      </p:pic>
      <p:pic>
        <p:nvPicPr>
          <p:cNvPr id="16" name="Picture 15">
            <a:extLst>
              <a:ext uri="{FF2B5EF4-FFF2-40B4-BE49-F238E27FC236}">
                <a16:creationId xmlns:a16="http://schemas.microsoft.com/office/drawing/2014/main" id="{4BF02F9E-61C3-5FB3-9FF0-76528F4FE147}"/>
              </a:ext>
            </a:extLst>
          </p:cNvPr>
          <p:cNvPicPr>
            <a:picLocks noChangeAspect="1"/>
          </p:cNvPicPr>
          <p:nvPr/>
        </p:nvPicPr>
        <p:blipFill>
          <a:blip r:embed="rId4"/>
          <a:stretch>
            <a:fillRect/>
          </a:stretch>
        </p:blipFill>
        <p:spPr>
          <a:xfrm>
            <a:off x="38100" y="2782882"/>
            <a:ext cx="3157666" cy="2399393"/>
          </a:xfrm>
          <a:prstGeom prst="rect">
            <a:avLst/>
          </a:prstGeom>
        </p:spPr>
      </p:pic>
      <p:pic>
        <p:nvPicPr>
          <p:cNvPr id="17" name="Picture 16">
            <a:extLst>
              <a:ext uri="{FF2B5EF4-FFF2-40B4-BE49-F238E27FC236}">
                <a16:creationId xmlns:a16="http://schemas.microsoft.com/office/drawing/2014/main" id="{7269CB0C-7E9B-0686-C41B-7111FC4C1098}"/>
              </a:ext>
            </a:extLst>
          </p:cNvPr>
          <p:cNvPicPr>
            <a:picLocks noChangeAspect="1"/>
          </p:cNvPicPr>
          <p:nvPr/>
        </p:nvPicPr>
        <p:blipFill>
          <a:blip r:embed="rId5"/>
          <a:stretch>
            <a:fillRect/>
          </a:stretch>
        </p:blipFill>
        <p:spPr>
          <a:xfrm>
            <a:off x="6600009" y="5326729"/>
            <a:ext cx="2057400" cy="698500"/>
          </a:xfrm>
          <a:prstGeom prst="rect">
            <a:avLst/>
          </a:prstGeom>
        </p:spPr>
      </p:pic>
      <p:sp>
        <p:nvSpPr>
          <p:cNvPr id="18" name="Oval 17">
            <a:extLst>
              <a:ext uri="{FF2B5EF4-FFF2-40B4-BE49-F238E27FC236}">
                <a16:creationId xmlns:a16="http://schemas.microsoft.com/office/drawing/2014/main" id="{A2182B7C-7E60-DEA2-5723-8B3BC500AF49}"/>
              </a:ext>
            </a:extLst>
          </p:cNvPr>
          <p:cNvSpPr/>
          <p:nvPr/>
        </p:nvSpPr>
        <p:spPr>
          <a:xfrm>
            <a:off x="8033658" y="5675979"/>
            <a:ext cx="827314" cy="485335"/>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F2A8338-0E85-13EE-9B21-FF5FF2C04C25}"/>
              </a:ext>
            </a:extLst>
          </p:cNvPr>
          <p:cNvSpPr txBox="1"/>
          <p:nvPr/>
        </p:nvSpPr>
        <p:spPr>
          <a:xfrm>
            <a:off x="4833257" y="6161314"/>
            <a:ext cx="2590800" cy="523220"/>
          </a:xfrm>
          <a:prstGeom prst="rect">
            <a:avLst/>
          </a:prstGeom>
          <a:noFill/>
        </p:spPr>
        <p:txBody>
          <a:bodyPr wrap="square" rtlCol="0">
            <a:spAutoFit/>
          </a:bodyPr>
          <a:lstStyle/>
          <a:p>
            <a:pPr algn="r"/>
            <a:r>
              <a:rPr lang="en-US" sz="1400" dirty="0">
                <a:solidFill>
                  <a:srgbClr val="FF0000"/>
                </a:solidFill>
                <a:latin typeface="+mn-lt"/>
              </a:rPr>
              <a:t>This is always the behavior with statistical errors!</a:t>
            </a:r>
          </a:p>
        </p:txBody>
      </p:sp>
      <p:cxnSp>
        <p:nvCxnSpPr>
          <p:cNvPr id="21" name="Straight Arrow Connector 20">
            <a:extLst>
              <a:ext uri="{FF2B5EF4-FFF2-40B4-BE49-F238E27FC236}">
                <a16:creationId xmlns:a16="http://schemas.microsoft.com/office/drawing/2014/main" id="{98F2B118-6AF8-C0FB-F7E1-614E0CBF5B63}"/>
              </a:ext>
            </a:extLst>
          </p:cNvPr>
          <p:cNvCxnSpPr>
            <a:cxnSpLocks/>
          </p:cNvCxnSpPr>
          <p:nvPr/>
        </p:nvCxnSpPr>
        <p:spPr>
          <a:xfrm flipV="1">
            <a:off x="7522029" y="6025229"/>
            <a:ext cx="511629" cy="2776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5654818"/>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702F7-C5D5-B74C-E1A2-46E419E83AA3}"/>
              </a:ext>
            </a:extLst>
          </p:cNvPr>
          <p:cNvSpPr>
            <a:spLocks noGrp="1"/>
          </p:cNvSpPr>
          <p:nvPr>
            <p:ph type="title"/>
          </p:nvPr>
        </p:nvSpPr>
        <p:spPr/>
        <p:txBody>
          <a:bodyPr/>
          <a:lstStyle/>
          <a:p>
            <a:r>
              <a:rPr lang="en-US" dirty="0"/>
              <a:t>Why the House Always Wins</a:t>
            </a:r>
          </a:p>
        </p:txBody>
      </p:sp>
      <p:sp>
        <p:nvSpPr>
          <p:cNvPr id="3" name="Content Placeholder 2">
            <a:extLst>
              <a:ext uri="{FF2B5EF4-FFF2-40B4-BE49-F238E27FC236}">
                <a16:creationId xmlns:a16="http://schemas.microsoft.com/office/drawing/2014/main" id="{95BF060B-2FD9-C4F4-A000-816B6D4E1C29}"/>
              </a:ext>
            </a:extLst>
          </p:cNvPr>
          <p:cNvSpPr>
            <a:spLocks noGrp="1"/>
          </p:cNvSpPr>
          <p:nvPr>
            <p:ph idx="1"/>
          </p:nvPr>
        </p:nvSpPr>
        <p:spPr/>
        <p:txBody>
          <a:bodyPr>
            <a:normAutofit/>
          </a:bodyPr>
          <a:lstStyle/>
          <a:p>
            <a:r>
              <a:rPr lang="en-US" sz="2000" dirty="0"/>
              <a:t>No one can predict whether a single person will win or lose in a casino; HOWEVER</a:t>
            </a:r>
          </a:p>
          <a:p>
            <a:r>
              <a:rPr lang="en-US" sz="2000" dirty="0"/>
              <a:t>If enough people gamble, the casino can predict </a:t>
            </a:r>
            <a:r>
              <a:rPr lang="en-US" sz="2000" i="1" dirty="0"/>
              <a:t>very exactly </a:t>
            </a:r>
            <a:r>
              <a:rPr lang="en-US" sz="2000" dirty="0"/>
              <a:t>how much they will make</a:t>
            </a:r>
          </a:p>
          <a:p>
            <a:pPr lvl="1"/>
            <a:r>
              <a:rPr lang="en-US" sz="1800" dirty="0"/>
              <a:t>It’s actually one of the most reliable businesses on Earth</a:t>
            </a:r>
          </a:p>
          <a:p>
            <a:r>
              <a:rPr lang="en-US" sz="2200" dirty="0"/>
              <a:t>Example: Roulette</a:t>
            </a:r>
          </a:p>
        </p:txBody>
      </p:sp>
      <p:sp>
        <p:nvSpPr>
          <p:cNvPr id="4" name="Date Placeholder 3">
            <a:extLst>
              <a:ext uri="{FF2B5EF4-FFF2-40B4-BE49-F238E27FC236}">
                <a16:creationId xmlns:a16="http://schemas.microsoft.com/office/drawing/2014/main" id="{017BAED2-8662-D862-B2C9-911CA67C6053}"/>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2A4AB5FA-E734-DCD7-9227-C87C4D79AC42}"/>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99FA5350-B17F-5931-540D-12921A793992}"/>
              </a:ext>
            </a:extLst>
          </p:cNvPr>
          <p:cNvSpPr>
            <a:spLocks noGrp="1"/>
          </p:cNvSpPr>
          <p:nvPr>
            <p:ph type="sldNum" sz="quarter" idx="12"/>
          </p:nvPr>
        </p:nvSpPr>
        <p:spPr/>
        <p:txBody>
          <a:bodyPr/>
          <a:lstStyle/>
          <a:p>
            <a:pPr>
              <a:defRPr/>
            </a:pPr>
            <a:fld id="{BCA26155-0DCC-45D2-90B6-32F65F3F6C0F}" type="slidenum">
              <a:rPr lang="en-US" smtClean="0"/>
              <a:pPr>
                <a:defRPr/>
              </a:pPr>
              <a:t>10</a:t>
            </a:fld>
            <a:endParaRPr lang="en-US"/>
          </a:p>
        </p:txBody>
      </p:sp>
      <p:pic>
        <p:nvPicPr>
          <p:cNvPr id="8" name="Picture 7" descr="A roulette wheel with numbers&#10;&#10;AI-generated content may be incorrect.">
            <a:extLst>
              <a:ext uri="{FF2B5EF4-FFF2-40B4-BE49-F238E27FC236}">
                <a16:creationId xmlns:a16="http://schemas.microsoft.com/office/drawing/2014/main" id="{2E6182D0-75E3-2F54-81D0-C693C70C05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713" y="3429000"/>
            <a:ext cx="2870200" cy="2870200"/>
          </a:xfrm>
          <a:prstGeom prst="rect">
            <a:avLst/>
          </a:prstGeom>
        </p:spPr>
      </p:pic>
      <p:sp>
        <p:nvSpPr>
          <p:cNvPr id="9" name="TextBox 8">
            <a:extLst>
              <a:ext uri="{FF2B5EF4-FFF2-40B4-BE49-F238E27FC236}">
                <a16:creationId xmlns:a16="http://schemas.microsoft.com/office/drawing/2014/main" id="{2FB52F08-C944-919B-88AF-D72B80AA4581}"/>
              </a:ext>
            </a:extLst>
          </p:cNvPr>
          <p:cNvSpPr txBox="1"/>
          <p:nvPr/>
        </p:nvSpPr>
        <p:spPr>
          <a:xfrm>
            <a:off x="3917884" y="3624942"/>
            <a:ext cx="4147458" cy="2308324"/>
          </a:xfrm>
          <a:prstGeom prst="rect">
            <a:avLst/>
          </a:prstGeom>
          <a:noFill/>
        </p:spPr>
        <p:txBody>
          <a:bodyPr wrap="square" rtlCol="0">
            <a:spAutoFit/>
          </a:bodyPr>
          <a:lstStyle/>
          <a:p>
            <a:pPr marL="173038" indent="-163513">
              <a:buFont typeface="Arial" panose="020B0604020202020204" pitchFamily="34" charset="0"/>
              <a:buChar char="•"/>
            </a:pPr>
            <a:r>
              <a:rPr lang="en-US" sz="1600" dirty="0">
                <a:latin typeface="+mn-lt"/>
              </a:rPr>
              <a:t>40 positions on the wheel</a:t>
            </a:r>
          </a:p>
          <a:p>
            <a:pPr marL="173038" indent="-163513">
              <a:buFont typeface="Arial" panose="020B0604020202020204" pitchFamily="34" charset="0"/>
              <a:buChar char="•"/>
            </a:pPr>
            <a:r>
              <a:rPr lang="en-US" sz="1600" dirty="0">
                <a:latin typeface="+mn-lt"/>
              </a:rPr>
              <a:t>If I bet an exact number and color, I have a 1 in 40 chance of winning, BUT</a:t>
            </a:r>
          </a:p>
          <a:p>
            <a:pPr marL="173038" indent="-163513">
              <a:buFont typeface="Arial" panose="020B0604020202020204" pitchFamily="34" charset="0"/>
              <a:buChar char="•"/>
            </a:pPr>
            <a:r>
              <a:rPr lang="en-US" sz="1600" dirty="0">
                <a:latin typeface="+mn-lt"/>
              </a:rPr>
              <a:t>It only pays out 35 to 1</a:t>
            </a:r>
          </a:p>
          <a:p>
            <a:pPr marL="173038" indent="-163513">
              <a:buFont typeface="Arial" panose="020B0604020202020204" pitchFamily="34" charset="0"/>
              <a:buChar char="•"/>
            </a:pPr>
            <a:r>
              <a:rPr lang="en-US" sz="1600" dirty="0">
                <a:latin typeface="+mn-lt"/>
              </a:rPr>
              <a:t>In other words, if I keep making $1 bets, on average I’ll win about $35 for every $40 dollars I bet!</a:t>
            </a:r>
          </a:p>
          <a:p>
            <a:pPr marL="173038" indent="-163513">
              <a:buFont typeface="Arial" panose="020B0604020202020204" pitchFamily="34" charset="0"/>
              <a:buChar char="•"/>
            </a:pPr>
            <a:r>
              <a:rPr lang="en-US" sz="1600" dirty="0">
                <a:latin typeface="+mn-lt"/>
              </a:rPr>
              <a:t>All the other roulette bets are similarly biased in favor of the house.</a:t>
            </a:r>
          </a:p>
        </p:txBody>
      </p:sp>
    </p:spTree>
    <p:extLst>
      <p:ext uri="{BB962C8B-B14F-4D97-AF65-F5344CB8AC3E}">
        <p14:creationId xmlns:p14="http://schemas.microsoft.com/office/powerpoint/2010/main" val="3845881786"/>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65A88-F58A-5945-22C0-B9F01A17B994}"/>
              </a:ext>
            </a:extLst>
          </p:cNvPr>
          <p:cNvSpPr>
            <a:spLocks noGrp="1"/>
          </p:cNvSpPr>
          <p:nvPr>
            <p:ph type="title"/>
          </p:nvPr>
        </p:nvSpPr>
        <p:spPr>
          <a:xfrm>
            <a:off x="217714" y="471448"/>
            <a:ext cx="8762999" cy="628207"/>
          </a:xfrm>
        </p:spPr>
        <p:txBody>
          <a:bodyPr>
            <a:noAutofit/>
          </a:bodyPr>
          <a:lstStyle/>
          <a:p>
            <a:r>
              <a:rPr lang="en-US" sz="2800" dirty="0"/>
              <a:t>Teachable Moment: Is Chocolate Good for You?</a:t>
            </a:r>
          </a:p>
        </p:txBody>
      </p:sp>
      <p:sp>
        <p:nvSpPr>
          <p:cNvPr id="3" name="Content Placeholder 2">
            <a:extLst>
              <a:ext uri="{FF2B5EF4-FFF2-40B4-BE49-F238E27FC236}">
                <a16:creationId xmlns:a16="http://schemas.microsoft.com/office/drawing/2014/main" id="{DB36B15E-A883-0E0A-1C3B-80EABDB5BEB3}"/>
              </a:ext>
            </a:extLst>
          </p:cNvPr>
          <p:cNvSpPr>
            <a:spLocks noGrp="1"/>
          </p:cNvSpPr>
          <p:nvPr>
            <p:ph idx="1"/>
          </p:nvPr>
        </p:nvSpPr>
        <p:spPr/>
        <p:txBody>
          <a:bodyPr>
            <a:normAutofit/>
          </a:bodyPr>
          <a:lstStyle/>
          <a:p>
            <a:r>
              <a:rPr lang="en-US" sz="1600" dirty="0"/>
              <a:t>In 2015, a group from </a:t>
            </a:r>
            <a:r>
              <a:rPr lang="en-US" sz="1600"/>
              <a:t>the “Institute </a:t>
            </a:r>
            <a:r>
              <a:rPr lang="en-US" sz="1600" dirty="0"/>
              <a:t>of Diet Health” published the following paper</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Not surprisingly, the popular press went wild!</a:t>
            </a:r>
          </a:p>
        </p:txBody>
      </p:sp>
      <p:sp>
        <p:nvSpPr>
          <p:cNvPr id="4" name="Date Placeholder 3">
            <a:extLst>
              <a:ext uri="{FF2B5EF4-FFF2-40B4-BE49-F238E27FC236}">
                <a16:creationId xmlns:a16="http://schemas.microsoft.com/office/drawing/2014/main" id="{8B985CAC-3240-895D-F4BD-C987BFEB8A04}"/>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4CF6397C-36F9-1E7D-A48B-1FEA7BCE732E}"/>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C8788E26-83B2-E04A-C39A-1DBADDDE08BC}"/>
              </a:ext>
            </a:extLst>
          </p:cNvPr>
          <p:cNvSpPr>
            <a:spLocks noGrp="1"/>
          </p:cNvSpPr>
          <p:nvPr>
            <p:ph type="sldNum" sz="quarter" idx="12"/>
          </p:nvPr>
        </p:nvSpPr>
        <p:spPr/>
        <p:txBody>
          <a:bodyPr/>
          <a:lstStyle/>
          <a:p>
            <a:pPr>
              <a:defRPr/>
            </a:pPr>
            <a:fld id="{BCA26155-0DCC-45D2-90B6-32F65F3F6C0F}" type="slidenum">
              <a:rPr lang="en-US" smtClean="0"/>
              <a:pPr>
                <a:defRPr/>
              </a:pPr>
              <a:t>11</a:t>
            </a:fld>
            <a:endParaRPr lang="en-US"/>
          </a:p>
        </p:txBody>
      </p:sp>
      <p:pic>
        <p:nvPicPr>
          <p:cNvPr id="7" name="Picture 6">
            <a:extLst>
              <a:ext uri="{FF2B5EF4-FFF2-40B4-BE49-F238E27FC236}">
                <a16:creationId xmlns:a16="http://schemas.microsoft.com/office/drawing/2014/main" id="{8D40A34F-A240-A473-509E-8CB97AF3D200}"/>
              </a:ext>
            </a:extLst>
          </p:cNvPr>
          <p:cNvPicPr>
            <a:picLocks noChangeAspect="1"/>
          </p:cNvPicPr>
          <p:nvPr/>
        </p:nvPicPr>
        <p:blipFill>
          <a:blip r:embed="rId2"/>
          <a:stretch>
            <a:fillRect/>
          </a:stretch>
        </p:blipFill>
        <p:spPr>
          <a:xfrm>
            <a:off x="670313" y="1748234"/>
            <a:ext cx="7772400" cy="4309294"/>
          </a:xfrm>
          <a:prstGeom prst="rect">
            <a:avLst/>
          </a:prstGeom>
        </p:spPr>
      </p:pic>
    </p:spTree>
    <p:extLst>
      <p:ext uri="{BB962C8B-B14F-4D97-AF65-F5344CB8AC3E}">
        <p14:creationId xmlns:p14="http://schemas.microsoft.com/office/powerpoint/2010/main" val="27707049"/>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BA23F-9BD6-9D7F-99F6-F7D249B1C6D9}"/>
              </a:ext>
            </a:extLst>
          </p:cNvPr>
          <p:cNvSpPr>
            <a:spLocks noGrp="1"/>
          </p:cNvSpPr>
          <p:nvPr>
            <p:ph type="title"/>
          </p:nvPr>
        </p:nvSpPr>
        <p:spPr/>
        <p:txBody>
          <a:bodyPr/>
          <a:lstStyle/>
          <a:p>
            <a:r>
              <a:rPr lang="en-US" dirty="0"/>
              <a:t>Really?</a:t>
            </a:r>
          </a:p>
        </p:txBody>
      </p:sp>
      <p:sp>
        <p:nvSpPr>
          <p:cNvPr id="3" name="Content Placeholder 2">
            <a:extLst>
              <a:ext uri="{FF2B5EF4-FFF2-40B4-BE49-F238E27FC236}">
                <a16:creationId xmlns:a16="http://schemas.microsoft.com/office/drawing/2014/main" id="{37E3BC76-7FE8-3141-9573-DE4FC0FF981C}"/>
              </a:ext>
            </a:extLst>
          </p:cNvPr>
          <p:cNvSpPr>
            <a:spLocks noGrp="1"/>
          </p:cNvSpPr>
          <p:nvPr>
            <p:ph idx="1"/>
          </p:nvPr>
        </p:nvSpPr>
        <p:spPr/>
        <p:txBody>
          <a:bodyPr>
            <a:normAutofit/>
          </a:bodyPr>
          <a:lstStyle/>
          <a:p>
            <a:r>
              <a:rPr lang="en-US" sz="2000" dirty="0"/>
              <a:t>Sadly, no.</a:t>
            </a:r>
          </a:p>
          <a:p>
            <a:r>
              <a:rPr lang="en-US" sz="2000" dirty="0"/>
              <a:t>The author wrote an article in Gizmodo entitled “I Filled Millions into Thinking Chocolate Helps Weight Loss”.  From the article…</a:t>
            </a:r>
            <a:br>
              <a:rPr lang="en-US" sz="2000" dirty="0"/>
            </a:br>
            <a:endParaRPr lang="en-US" sz="2000" dirty="0"/>
          </a:p>
          <a:p>
            <a:pPr lvl="1" algn="just"/>
            <a:r>
              <a:rPr lang="en-US" sz="1600" dirty="0"/>
              <a:t>I am Johannes Bohannon, Ph.D. Well, actually my name is John, and I’m a journalist. I do have a Ph.D., but it’s in the molecular biology of bacteria, not humans. The </a:t>
            </a:r>
            <a:r>
              <a:rPr lang="en-US" sz="1600" dirty="0">
                <a:hlinkClick r:id="rId2"/>
              </a:rPr>
              <a:t>Institute of Diet and Health</a:t>
            </a:r>
            <a:r>
              <a:rPr lang="en-US" sz="1600" dirty="0"/>
              <a:t>? That’s nothing more than a website. Other than those fibs, the study was </a:t>
            </a:r>
            <a:r>
              <a:rPr lang="en-US" sz="1600" b="1" dirty="0">
                <a:highlight>
                  <a:srgbClr val="FFFF00"/>
                </a:highlight>
              </a:rPr>
              <a:t>100 percent authentic</a:t>
            </a:r>
            <a:r>
              <a:rPr lang="en-US" sz="1600" dirty="0"/>
              <a:t>. My colleagues and I recruited actual human subjects in Germany. </a:t>
            </a:r>
            <a:r>
              <a:rPr lang="en-US" sz="1600" b="1" dirty="0">
                <a:highlight>
                  <a:srgbClr val="FFFF00"/>
                </a:highlight>
              </a:rPr>
              <a:t>We ran an actual clinical trial, with subjects randomly assigned to different diet regimes. And the statistically significant benefits of chocolate that we reported are based on the actual data.</a:t>
            </a:r>
            <a:r>
              <a:rPr lang="en-US" sz="1600" dirty="0"/>
              <a:t> It was, in fact, a fairly typical study for the field of diet research. </a:t>
            </a:r>
            <a:r>
              <a:rPr lang="en-US" sz="1600" b="1" dirty="0">
                <a:highlight>
                  <a:srgbClr val="FFFF00"/>
                </a:highlight>
              </a:rPr>
              <a:t>Which is to say: It was terrible science. </a:t>
            </a:r>
            <a:r>
              <a:rPr lang="en-US" sz="1600" dirty="0"/>
              <a:t>The results are meaningless, and the health claims that the media blasted out to millions of people around the world are utterly unfounded.</a:t>
            </a:r>
          </a:p>
          <a:p>
            <a:endParaRPr lang="en-US" sz="2000" dirty="0"/>
          </a:p>
        </p:txBody>
      </p:sp>
      <p:sp>
        <p:nvSpPr>
          <p:cNvPr id="4" name="Date Placeholder 3">
            <a:extLst>
              <a:ext uri="{FF2B5EF4-FFF2-40B4-BE49-F238E27FC236}">
                <a16:creationId xmlns:a16="http://schemas.microsoft.com/office/drawing/2014/main" id="{6279D415-69C2-43D7-BAB8-A107D179E95B}"/>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0F5F24CC-7F0E-C810-952C-F1BEFBC61907}"/>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EB5E7F57-EC7F-4E50-C358-1021A611A03B}"/>
              </a:ext>
            </a:extLst>
          </p:cNvPr>
          <p:cNvSpPr>
            <a:spLocks noGrp="1"/>
          </p:cNvSpPr>
          <p:nvPr>
            <p:ph type="sldNum" sz="quarter" idx="12"/>
          </p:nvPr>
        </p:nvSpPr>
        <p:spPr/>
        <p:txBody>
          <a:bodyPr/>
          <a:lstStyle/>
          <a:p>
            <a:pPr>
              <a:defRPr/>
            </a:pPr>
            <a:fld id="{BCA26155-0DCC-45D2-90B6-32F65F3F6C0F}" type="slidenum">
              <a:rPr lang="en-US" smtClean="0"/>
              <a:pPr>
                <a:defRPr/>
              </a:pPr>
              <a:t>12</a:t>
            </a:fld>
            <a:endParaRPr lang="en-US"/>
          </a:p>
        </p:txBody>
      </p:sp>
    </p:spTree>
    <p:extLst>
      <p:ext uri="{BB962C8B-B14F-4D97-AF65-F5344CB8AC3E}">
        <p14:creationId xmlns:p14="http://schemas.microsoft.com/office/powerpoint/2010/main" val="4064602660"/>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38449-8B37-E6C3-A384-284D7C5628D6}"/>
              </a:ext>
            </a:extLst>
          </p:cNvPr>
          <p:cNvSpPr>
            <a:spLocks noGrp="1"/>
          </p:cNvSpPr>
          <p:nvPr>
            <p:ph type="title"/>
          </p:nvPr>
        </p:nvSpPr>
        <p:spPr/>
        <p:txBody>
          <a:bodyPr/>
          <a:lstStyle/>
          <a:p>
            <a:r>
              <a:rPr lang="en-US" dirty="0"/>
              <a:t>What they actually reported</a:t>
            </a:r>
          </a:p>
        </p:txBody>
      </p:sp>
      <p:sp>
        <p:nvSpPr>
          <p:cNvPr id="3" name="Content Placeholder 2">
            <a:extLst>
              <a:ext uri="{FF2B5EF4-FFF2-40B4-BE49-F238E27FC236}">
                <a16:creationId xmlns:a16="http://schemas.microsoft.com/office/drawing/2014/main" id="{134E1A8D-50F2-C252-768D-D5FDBB12DF3E}"/>
              </a:ext>
            </a:extLst>
          </p:cNvPr>
          <p:cNvSpPr>
            <a:spLocks noGrp="1"/>
          </p:cNvSpPr>
          <p:nvPr>
            <p:ph idx="1"/>
          </p:nvPr>
        </p:nvSpPr>
        <p:spPr/>
        <p:txBody>
          <a:bodyPr>
            <a:normAutofit/>
          </a:bodyPr>
          <a:lstStyle/>
          <a:p>
            <a:r>
              <a:rPr lang="en-US" sz="1800" dirty="0"/>
              <a:t>They divided subjects into three groups</a:t>
            </a:r>
          </a:p>
          <a:p>
            <a:pPr lvl="1"/>
            <a:r>
              <a:rPr lang="en-US" sz="1600" dirty="0"/>
              <a:t>One group put on low carb diets</a:t>
            </a:r>
          </a:p>
          <a:p>
            <a:pPr lvl="1"/>
            <a:r>
              <a:rPr lang="en-US" sz="1600" dirty="0"/>
              <a:t>One group put on low carb diets + 42 grams of chocolate/day</a:t>
            </a:r>
          </a:p>
          <a:p>
            <a:pPr lvl="1"/>
            <a:r>
              <a:rPr lang="en-US" sz="1600" dirty="0"/>
              <a:t>One group ate whatever they wanted</a:t>
            </a:r>
          </a:p>
          <a:p>
            <a:r>
              <a:rPr lang="en-US" sz="1800" dirty="0"/>
              <a:t>The first two groups lost weight. Not surprisingly, the third one didn’t.</a:t>
            </a:r>
          </a:p>
        </p:txBody>
      </p:sp>
      <p:sp>
        <p:nvSpPr>
          <p:cNvPr id="4" name="Date Placeholder 3">
            <a:extLst>
              <a:ext uri="{FF2B5EF4-FFF2-40B4-BE49-F238E27FC236}">
                <a16:creationId xmlns:a16="http://schemas.microsoft.com/office/drawing/2014/main" id="{1C203919-E55B-9B94-1E97-77E5027F1407}"/>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FDC7CC01-195B-0186-11B1-3B4D7FFC8D10}"/>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A11E2E0B-2BB4-A3CD-FFA2-86F768F81B96}"/>
              </a:ext>
            </a:extLst>
          </p:cNvPr>
          <p:cNvSpPr>
            <a:spLocks noGrp="1"/>
          </p:cNvSpPr>
          <p:nvPr>
            <p:ph type="sldNum" sz="quarter" idx="12"/>
          </p:nvPr>
        </p:nvSpPr>
        <p:spPr/>
        <p:txBody>
          <a:bodyPr/>
          <a:lstStyle/>
          <a:p>
            <a:pPr>
              <a:defRPr/>
            </a:pPr>
            <a:fld id="{BCA26155-0DCC-45D2-90B6-32F65F3F6C0F}" type="slidenum">
              <a:rPr lang="en-US" smtClean="0"/>
              <a:pPr>
                <a:defRPr/>
              </a:pPr>
              <a:t>13</a:t>
            </a:fld>
            <a:endParaRPr lang="en-US"/>
          </a:p>
        </p:txBody>
      </p:sp>
      <p:pic>
        <p:nvPicPr>
          <p:cNvPr id="7" name="Picture 6">
            <a:extLst>
              <a:ext uri="{FF2B5EF4-FFF2-40B4-BE49-F238E27FC236}">
                <a16:creationId xmlns:a16="http://schemas.microsoft.com/office/drawing/2014/main" id="{7ACE1126-7ACD-62A3-ED86-4A35A03FC8C8}"/>
              </a:ext>
            </a:extLst>
          </p:cNvPr>
          <p:cNvPicPr>
            <a:picLocks noChangeAspect="1"/>
          </p:cNvPicPr>
          <p:nvPr/>
        </p:nvPicPr>
        <p:blipFill>
          <a:blip r:embed="rId2"/>
          <a:stretch>
            <a:fillRect/>
          </a:stretch>
        </p:blipFill>
        <p:spPr>
          <a:xfrm>
            <a:off x="1120223" y="2812843"/>
            <a:ext cx="5488215" cy="3893265"/>
          </a:xfrm>
          <a:prstGeom prst="rect">
            <a:avLst/>
          </a:prstGeom>
        </p:spPr>
      </p:pic>
      <p:sp>
        <p:nvSpPr>
          <p:cNvPr id="8" name="TextBox 7">
            <a:extLst>
              <a:ext uri="{FF2B5EF4-FFF2-40B4-BE49-F238E27FC236}">
                <a16:creationId xmlns:a16="http://schemas.microsoft.com/office/drawing/2014/main" id="{96F8EC6F-A794-96EF-18A3-3346F98A7F04}"/>
              </a:ext>
            </a:extLst>
          </p:cNvPr>
          <p:cNvSpPr txBox="1"/>
          <p:nvPr/>
        </p:nvSpPr>
        <p:spPr>
          <a:xfrm>
            <a:off x="6951448" y="3641271"/>
            <a:ext cx="1376855" cy="523220"/>
          </a:xfrm>
          <a:prstGeom prst="rect">
            <a:avLst/>
          </a:prstGeom>
          <a:noFill/>
        </p:spPr>
        <p:txBody>
          <a:bodyPr wrap="square" rtlCol="0">
            <a:spAutoFit/>
          </a:bodyPr>
          <a:lstStyle/>
          <a:p>
            <a:r>
              <a:rPr lang="en-US" sz="1400" dirty="0">
                <a:solidFill>
                  <a:srgbClr val="FF0000"/>
                </a:solidFill>
                <a:latin typeface="+mn-lt"/>
              </a:rPr>
              <a:t>Note the lack of error bars!</a:t>
            </a:r>
          </a:p>
        </p:txBody>
      </p:sp>
      <p:cxnSp>
        <p:nvCxnSpPr>
          <p:cNvPr id="10" name="Straight Arrow Connector 9">
            <a:extLst>
              <a:ext uri="{FF2B5EF4-FFF2-40B4-BE49-F238E27FC236}">
                <a16:creationId xmlns:a16="http://schemas.microsoft.com/office/drawing/2014/main" id="{827107EF-0E82-21AF-65CC-1036A4ADB952}"/>
              </a:ext>
            </a:extLst>
          </p:cNvPr>
          <p:cNvCxnSpPr/>
          <p:nvPr/>
        </p:nvCxnSpPr>
        <p:spPr>
          <a:xfrm flipH="1">
            <a:off x="6274676" y="4067503"/>
            <a:ext cx="515007" cy="3468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0047709"/>
      </p:ext>
    </p:extLst>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678AA-F211-7757-98A5-EB88E20EFFB1}"/>
              </a:ext>
            </a:extLst>
          </p:cNvPr>
          <p:cNvSpPr>
            <a:spLocks noGrp="1"/>
          </p:cNvSpPr>
          <p:nvPr>
            <p:ph type="title"/>
          </p:nvPr>
        </p:nvSpPr>
        <p:spPr/>
        <p:txBody>
          <a:bodyPr/>
          <a:lstStyle/>
          <a:p>
            <a:r>
              <a:rPr lang="en-US" dirty="0"/>
              <a:t>Additional Health Benefits of Chocolate</a:t>
            </a:r>
          </a:p>
        </p:txBody>
      </p:sp>
      <p:sp>
        <p:nvSpPr>
          <p:cNvPr id="3" name="Content Placeholder 2">
            <a:extLst>
              <a:ext uri="{FF2B5EF4-FFF2-40B4-BE49-F238E27FC236}">
                <a16:creationId xmlns:a16="http://schemas.microsoft.com/office/drawing/2014/main" id="{6DACE0D1-3980-2928-3E6B-F5873DC99615}"/>
              </a:ext>
            </a:extLst>
          </p:cNvPr>
          <p:cNvSpPr>
            <a:spLocks noGrp="1"/>
          </p:cNvSpPr>
          <p:nvPr>
            <p:ph idx="1"/>
          </p:nvPr>
        </p:nvSpPr>
        <p:spPr/>
        <p:txBody>
          <a:bodyPr>
            <a:normAutofit/>
          </a:bodyPr>
          <a:lstStyle/>
          <a:p>
            <a:r>
              <a:rPr lang="en-US" sz="2000" dirty="0"/>
              <a:t>In addition to weight loss, they observed other positive health benefits</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sp>
        <p:nvSpPr>
          <p:cNvPr id="4" name="Date Placeholder 3">
            <a:extLst>
              <a:ext uri="{FF2B5EF4-FFF2-40B4-BE49-F238E27FC236}">
                <a16:creationId xmlns:a16="http://schemas.microsoft.com/office/drawing/2014/main" id="{24BF9058-9C0B-BD6F-24EE-29BDE4167254}"/>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D756C2D5-C844-BB54-84D5-323BE012A755}"/>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D3711F1A-ECD0-923D-F95C-0D9D9455D4AE}"/>
              </a:ext>
            </a:extLst>
          </p:cNvPr>
          <p:cNvSpPr>
            <a:spLocks noGrp="1"/>
          </p:cNvSpPr>
          <p:nvPr>
            <p:ph type="sldNum" sz="quarter" idx="12"/>
          </p:nvPr>
        </p:nvSpPr>
        <p:spPr/>
        <p:txBody>
          <a:bodyPr/>
          <a:lstStyle/>
          <a:p>
            <a:pPr>
              <a:defRPr/>
            </a:pPr>
            <a:fld id="{BCA26155-0DCC-45D2-90B6-32F65F3F6C0F}" type="slidenum">
              <a:rPr lang="en-US" smtClean="0"/>
              <a:pPr>
                <a:defRPr/>
              </a:pPr>
              <a:t>14</a:t>
            </a:fld>
            <a:endParaRPr lang="en-US"/>
          </a:p>
        </p:txBody>
      </p:sp>
      <p:pic>
        <p:nvPicPr>
          <p:cNvPr id="7" name="Picture 6">
            <a:extLst>
              <a:ext uri="{FF2B5EF4-FFF2-40B4-BE49-F238E27FC236}">
                <a16:creationId xmlns:a16="http://schemas.microsoft.com/office/drawing/2014/main" id="{8AA9850C-22BF-AFE4-8A70-8B854CEFD3EA}"/>
              </a:ext>
            </a:extLst>
          </p:cNvPr>
          <p:cNvPicPr>
            <a:picLocks noChangeAspect="1"/>
          </p:cNvPicPr>
          <p:nvPr/>
        </p:nvPicPr>
        <p:blipFill>
          <a:blip r:embed="rId2"/>
          <a:stretch>
            <a:fillRect/>
          </a:stretch>
        </p:blipFill>
        <p:spPr>
          <a:xfrm>
            <a:off x="670313" y="1604018"/>
            <a:ext cx="7772400" cy="4357991"/>
          </a:xfrm>
          <a:prstGeom prst="rect">
            <a:avLst/>
          </a:prstGeom>
        </p:spPr>
      </p:pic>
      <p:sp>
        <p:nvSpPr>
          <p:cNvPr id="8" name="Rectangle 7">
            <a:extLst>
              <a:ext uri="{FF2B5EF4-FFF2-40B4-BE49-F238E27FC236}">
                <a16:creationId xmlns:a16="http://schemas.microsoft.com/office/drawing/2014/main" id="{9A3FE49F-B202-AE73-DFBC-CD9ED4321C11}"/>
              </a:ext>
            </a:extLst>
          </p:cNvPr>
          <p:cNvSpPr/>
          <p:nvPr/>
        </p:nvSpPr>
        <p:spPr>
          <a:xfrm>
            <a:off x="7532914" y="2090057"/>
            <a:ext cx="849086" cy="388620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C334B59-591B-58DD-3C32-A13898A180B0}"/>
              </a:ext>
            </a:extLst>
          </p:cNvPr>
          <p:cNvSpPr txBox="1"/>
          <p:nvPr/>
        </p:nvSpPr>
        <p:spPr>
          <a:xfrm>
            <a:off x="5758543" y="6058623"/>
            <a:ext cx="2623457" cy="307777"/>
          </a:xfrm>
          <a:prstGeom prst="rect">
            <a:avLst/>
          </a:prstGeom>
          <a:noFill/>
        </p:spPr>
        <p:txBody>
          <a:bodyPr wrap="square" rtlCol="0">
            <a:spAutoFit/>
          </a:bodyPr>
          <a:lstStyle/>
          <a:p>
            <a:pPr algn="r"/>
            <a:r>
              <a:rPr lang="en-US" sz="1400" dirty="0">
                <a:solidFill>
                  <a:srgbClr val="FF0000"/>
                </a:solidFill>
                <a:latin typeface="+mn-lt"/>
              </a:rPr>
              <a:t>Put a pin in this!</a:t>
            </a:r>
          </a:p>
        </p:txBody>
      </p:sp>
    </p:spTree>
    <p:extLst>
      <p:ext uri="{BB962C8B-B14F-4D97-AF65-F5344CB8AC3E}">
        <p14:creationId xmlns:p14="http://schemas.microsoft.com/office/powerpoint/2010/main" val="4196802818"/>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8D213-118D-0EF8-A895-5AB58B836D42}"/>
              </a:ext>
            </a:extLst>
          </p:cNvPr>
          <p:cNvSpPr>
            <a:spLocks noGrp="1"/>
          </p:cNvSpPr>
          <p:nvPr>
            <p:ph type="title"/>
          </p:nvPr>
        </p:nvSpPr>
        <p:spPr/>
        <p:txBody>
          <a:bodyPr/>
          <a:lstStyle/>
          <a:p>
            <a:r>
              <a:rPr lang="en-US" dirty="0"/>
              <a:t>How they did it…</a:t>
            </a:r>
          </a:p>
        </p:txBody>
      </p:sp>
      <p:sp>
        <p:nvSpPr>
          <p:cNvPr id="3" name="Content Placeholder 2">
            <a:extLst>
              <a:ext uri="{FF2B5EF4-FFF2-40B4-BE49-F238E27FC236}">
                <a16:creationId xmlns:a16="http://schemas.microsoft.com/office/drawing/2014/main" id="{AACD25A6-BEC7-2563-75F0-46E66B80100A}"/>
              </a:ext>
            </a:extLst>
          </p:cNvPr>
          <p:cNvSpPr>
            <a:spLocks noGrp="1"/>
          </p:cNvSpPr>
          <p:nvPr>
            <p:ph idx="1"/>
          </p:nvPr>
        </p:nvSpPr>
        <p:spPr/>
        <p:txBody>
          <a:bodyPr>
            <a:normAutofit/>
          </a:bodyPr>
          <a:lstStyle/>
          <a:p>
            <a:r>
              <a:rPr lang="en-US" sz="2000" dirty="0"/>
              <a:t>The authors set out to publish a bogus result, BUT they were not willing to lie.</a:t>
            </a:r>
          </a:p>
          <a:p>
            <a:r>
              <a:rPr lang="en-US" sz="2000" dirty="0"/>
              <a:t>They set up a situation all but guaranteed to generate spurious results	</a:t>
            </a:r>
          </a:p>
          <a:p>
            <a:pPr lvl="1"/>
            <a:r>
              <a:rPr lang="en-US" sz="1800" dirty="0"/>
              <a:t>You’ll notice that nowhere in the article to they mention the total number of subjects</a:t>
            </a:r>
          </a:p>
          <a:p>
            <a:pPr lvl="2"/>
            <a:r>
              <a:rPr lang="en-US" dirty="0"/>
              <a:t>It was 16, divided into three groups! (and one dropped out)</a:t>
            </a:r>
          </a:p>
          <a:p>
            <a:pPr lvl="1"/>
            <a:r>
              <a:rPr lang="en-US" dirty="0"/>
              <a:t>There was no attempt at assigning an uncertainty to any of the measurements</a:t>
            </a:r>
          </a:p>
          <a:p>
            <a:pPr lvl="2"/>
            <a:r>
              <a:rPr lang="en-US" dirty="0"/>
              <a:t>Weight can fluctuate up to </a:t>
            </a:r>
            <a:r>
              <a:rPr lang="en-US" i="1" dirty="0"/>
              <a:t>5 </a:t>
            </a:r>
            <a:r>
              <a:rPr lang="en-US" i="1" dirty="0" err="1"/>
              <a:t>lbs</a:t>
            </a:r>
            <a:r>
              <a:rPr lang="en-US" i="1" dirty="0"/>
              <a:t> per day</a:t>
            </a:r>
            <a:r>
              <a:rPr lang="en-US" dirty="0"/>
              <a:t>.</a:t>
            </a:r>
          </a:p>
          <a:p>
            <a:pPr lvl="1"/>
            <a:r>
              <a:rPr lang="en-US" sz="1800" b="1" dirty="0"/>
              <a:t>Here’s the important one:  </a:t>
            </a:r>
            <a:r>
              <a:rPr lang="en-US" sz="1800" i="1" dirty="0"/>
              <a:t>they didn’t decide in advance what they were going to report</a:t>
            </a:r>
            <a:r>
              <a:rPr lang="en-US" sz="1800" dirty="0"/>
              <a:t>.  They measured 18 different things and then only discussed the ones that seemed to show statistical significance.</a:t>
            </a:r>
          </a:p>
          <a:p>
            <a:pPr lvl="2"/>
            <a:r>
              <a:rPr lang="en-US" dirty="0"/>
              <a:t>This is so common it’s referred to as “p-hacking”</a:t>
            </a:r>
          </a:p>
          <a:p>
            <a:pPr lvl="2"/>
            <a:r>
              <a:rPr lang="en-US" dirty="0"/>
              <a:t>It’s usually done unintentionally, but in this case, it was done on purpose</a:t>
            </a:r>
            <a:r>
              <a:rPr lang="en-US" sz="1600" dirty="0"/>
              <a:t>.</a:t>
            </a:r>
          </a:p>
        </p:txBody>
      </p:sp>
      <p:sp>
        <p:nvSpPr>
          <p:cNvPr id="4" name="Date Placeholder 3">
            <a:extLst>
              <a:ext uri="{FF2B5EF4-FFF2-40B4-BE49-F238E27FC236}">
                <a16:creationId xmlns:a16="http://schemas.microsoft.com/office/drawing/2014/main" id="{B0731402-B406-2782-CB35-DC4274F4A2AD}"/>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3C0AF9F4-4C29-F743-6646-0DB42B1132FA}"/>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F0B1C7F3-8A52-482E-12E5-AD5F0383A695}"/>
              </a:ext>
            </a:extLst>
          </p:cNvPr>
          <p:cNvSpPr>
            <a:spLocks noGrp="1"/>
          </p:cNvSpPr>
          <p:nvPr>
            <p:ph type="sldNum" sz="quarter" idx="12"/>
          </p:nvPr>
        </p:nvSpPr>
        <p:spPr/>
        <p:txBody>
          <a:bodyPr/>
          <a:lstStyle/>
          <a:p>
            <a:pPr>
              <a:defRPr/>
            </a:pPr>
            <a:fld id="{BCA26155-0DCC-45D2-90B6-32F65F3F6C0F}" type="slidenum">
              <a:rPr lang="en-US" smtClean="0"/>
              <a:pPr>
                <a:defRPr/>
              </a:pPr>
              <a:t>15</a:t>
            </a:fld>
            <a:endParaRPr lang="en-US"/>
          </a:p>
        </p:txBody>
      </p:sp>
    </p:spTree>
    <p:extLst>
      <p:ext uri="{BB962C8B-B14F-4D97-AF65-F5344CB8AC3E}">
        <p14:creationId xmlns:p14="http://schemas.microsoft.com/office/powerpoint/2010/main" val="453760204"/>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FC895-C632-7700-D957-1B578685B9E4}"/>
              </a:ext>
            </a:extLst>
          </p:cNvPr>
          <p:cNvSpPr>
            <a:spLocks noGrp="1"/>
          </p:cNvSpPr>
          <p:nvPr>
            <p:ph type="title"/>
          </p:nvPr>
        </p:nvSpPr>
        <p:spPr/>
        <p:txBody>
          <a:bodyPr/>
          <a:lstStyle/>
          <a:p>
            <a:r>
              <a:rPr lang="en-US" dirty="0"/>
              <a:t>Card Demo</a:t>
            </a:r>
          </a:p>
        </p:txBody>
      </p:sp>
      <p:sp>
        <p:nvSpPr>
          <p:cNvPr id="3" name="Content Placeholder 2">
            <a:extLst>
              <a:ext uri="{FF2B5EF4-FFF2-40B4-BE49-F238E27FC236}">
                <a16:creationId xmlns:a16="http://schemas.microsoft.com/office/drawing/2014/main" id="{EEC62BB6-37D5-60ED-1BC7-AB50F41F94BF}"/>
              </a:ext>
            </a:extLst>
          </p:cNvPr>
          <p:cNvSpPr>
            <a:spLocks noGrp="1"/>
          </p:cNvSpPr>
          <p:nvPr>
            <p:ph idx="1"/>
          </p:nvPr>
        </p:nvSpPr>
        <p:spPr/>
        <p:txBody>
          <a:bodyPr/>
          <a:lstStyle/>
          <a:p>
            <a:r>
              <a:rPr lang="en-US" dirty="0"/>
              <a:t>5 Card Stud (single deal, </a:t>
            </a:r>
            <a:br>
              <a:rPr lang="en-US" dirty="0"/>
            </a:br>
            <a:r>
              <a:rPr lang="en-US" dirty="0"/>
              <a:t>no wildcards)</a:t>
            </a:r>
          </a:p>
        </p:txBody>
      </p:sp>
      <p:sp>
        <p:nvSpPr>
          <p:cNvPr id="4" name="Date Placeholder 3">
            <a:extLst>
              <a:ext uri="{FF2B5EF4-FFF2-40B4-BE49-F238E27FC236}">
                <a16:creationId xmlns:a16="http://schemas.microsoft.com/office/drawing/2014/main" id="{B58AB526-6769-2920-0904-788094F9187C}"/>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3C45B961-131B-24F7-9DB2-3031861DA880}"/>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F5F86320-FAB7-637B-862A-F242DA7E7143}"/>
              </a:ext>
            </a:extLst>
          </p:cNvPr>
          <p:cNvSpPr>
            <a:spLocks noGrp="1"/>
          </p:cNvSpPr>
          <p:nvPr>
            <p:ph type="sldNum" sz="quarter" idx="12"/>
          </p:nvPr>
        </p:nvSpPr>
        <p:spPr/>
        <p:txBody>
          <a:bodyPr/>
          <a:lstStyle/>
          <a:p>
            <a:pPr>
              <a:defRPr/>
            </a:pPr>
            <a:fld id="{BCA26155-0DCC-45D2-90B6-32F65F3F6C0F}" type="slidenum">
              <a:rPr lang="en-US" smtClean="0"/>
              <a:pPr>
                <a:defRPr/>
              </a:pPr>
              <a:t>16</a:t>
            </a:fld>
            <a:endParaRPr lang="en-US"/>
          </a:p>
        </p:txBody>
      </p:sp>
      <p:pic>
        <p:nvPicPr>
          <p:cNvPr id="8" name="Picture 7" descr="A screenshot of a card game&#10;&#10;AI-generated content may be incorrect.">
            <a:extLst>
              <a:ext uri="{FF2B5EF4-FFF2-40B4-BE49-F238E27FC236}">
                <a16:creationId xmlns:a16="http://schemas.microsoft.com/office/drawing/2014/main" id="{8A456414-7B79-86A6-EBAF-8853335EB1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73144" y="347472"/>
            <a:ext cx="4650067" cy="6492240"/>
          </a:xfrm>
          <a:prstGeom prst="rect">
            <a:avLst/>
          </a:prstGeom>
        </p:spPr>
      </p:pic>
    </p:spTree>
    <p:extLst>
      <p:ext uri="{BB962C8B-B14F-4D97-AF65-F5344CB8AC3E}">
        <p14:creationId xmlns:p14="http://schemas.microsoft.com/office/powerpoint/2010/main" val="2479666253"/>
      </p:ext>
    </p:extLst>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AC9BE-A543-0074-FC5C-09F08B1ADF6C}"/>
              </a:ext>
            </a:extLst>
          </p:cNvPr>
          <p:cNvSpPr>
            <a:spLocks noGrp="1"/>
          </p:cNvSpPr>
          <p:nvPr>
            <p:ph type="title"/>
          </p:nvPr>
        </p:nvSpPr>
        <p:spPr/>
        <p:txBody>
          <a:bodyPr/>
          <a:lstStyle/>
          <a:p>
            <a:r>
              <a:rPr lang="en-US" dirty="0"/>
              <a:t>Looking in too many places</a:t>
            </a:r>
          </a:p>
        </p:txBody>
      </p:sp>
      <p:sp>
        <p:nvSpPr>
          <p:cNvPr id="3" name="Content Placeholder 2">
            <a:extLst>
              <a:ext uri="{FF2B5EF4-FFF2-40B4-BE49-F238E27FC236}">
                <a16:creationId xmlns:a16="http://schemas.microsoft.com/office/drawing/2014/main" id="{9F21CBD3-FF1C-00C4-31C5-7C4D52D7E4A4}"/>
              </a:ext>
            </a:extLst>
          </p:cNvPr>
          <p:cNvSpPr>
            <a:spLocks noGrp="1"/>
          </p:cNvSpPr>
          <p:nvPr>
            <p:ph idx="1"/>
          </p:nvPr>
        </p:nvSpPr>
        <p:spPr/>
        <p:txBody>
          <a:bodyPr>
            <a:normAutofit/>
          </a:bodyPr>
          <a:lstStyle/>
          <a:p>
            <a:r>
              <a:rPr lang="en-US" sz="2000" dirty="0"/>
              <a:t>If I make one measurement that has a probability of </a:t>
            </a:r>
            <a:r>
              <a:rPr lang="en-US" sz="2000" i="1" dirty="0"/>
              <a:t>p=5%</a:t>
            </a:r>
            <a:r>
              <a:rPr lang="en-US" sz="2000" dirty="0"/>
              <a:t> of occurring, then it has a probability of </a:t>
            </a:r>
            <a:r>
              <a:rPr lang="en-US" sz="2000" i="1" dirty="0"/>
              <a:t>(1-p)=95% </a:t>
            </a:r>
            <a:r>
              <a:rPr lang="en-US" sz="2000" dirty="0"/>
              <a:t>of not occurring.</a:t>
            </a:r>
          </a:p>
          <a:p>
            <a:r>
              <a:rPr lang="en-US" sz="2000" dirty="0"/>
              <a:t>However, it I look </a:t>
            </a:r>
            <a:r>
              <a:rPr lang="en-US" sz="2000" i="1" dirty="0"/>
              <a:t>n</a:t>
            </a:r>
            <a:r>
              <a:rPr lang="en-US" sz="2000" dirty="0"/>
              <a:t> different things, each of which has a probability of </a:t>
            </a:r>
            <a:r>
              <a:rPr lang="en-US" sz="2000" i="1" dirty="0"/>
              <a:t>p </a:t>
            </a:r>
            <a:r>
              <a:rPr lang="en-US" sz="2000" dirty="0"/>
              <a:t>of occurring, then the probability of not observing anything, ever is</a:t>
            </a:r>
          </a:p>
          <a:p>
            <a:pPr marL="0" indent="0">
              <a:buNone/>
            </a:pPr>
            <a:endParaRPr lang="en-US" sz="2000" dirty="0"/>
          </a:p>
          <a:p>
            <a:pPr marL="274320" lvl="1" indent="0">
              <a:buNone/>
            </a:pPr>
            <a:r>
              <a:rPr lang="en-US" dirty="0"/>
              <a:t>which eventually goes to zero</a:t>
            </a:r>
          </a:p>
          <a:p>
            <a:r>
              <a:rPr lang="en-US" sz="2000" dirty="0"/>
              <a:t>In this case, if we make 18 observations, the chance that one of them has an effect with less than a 5% probability is</a:t>
            </a:r>
          </a:p>
          <a:p>
            <a:endParaRPr lang="en-US" sz="2000" dirty="0"/>
          </a:p>
          <a:p>
            <a:endParaRPr lang="en-US" sz="2000" dirty="0"/>
          </a:p>
          <a:p>
            <a:r>
              <a:rPr lang="en-US" sz="2000" dirty="0"/>
              <a:t>The just measured a bunch of things and picked couple that were statistically significant.</a:t>
            </a:r>
          </a:p>
          <a:p>
            <a:pPr lvl="1"/>
            <a:r>
              <a:rPr lang="en-US" sz="1800" dirty="0"/>
              <a:t>The fact that weight loss was one of them was just a happy accident.</a:t>
            </a:r>
          </a:p>
          <a:p>
            <a:r>
              <a:rPr lang="en-US" sz="2000" dirty="0"/>
              <a:t>At least they were honest about it and came clean right away.</a:t>
            </a:r>
          </a:p>
          <a:p>
            <a:endParaRPr lang="en-US" sz="2000" dirty="0"/>
          </a:p>
          <a:p>
            <a:endParaRPr lang="en-US" sz="2000" dirty="0"/>
          </a:p>
          <a:p>
            <a:endParaRPr lang="en-US" sz="2000" dirty="0"/>
          </a:p>
        </p:txBody>
      </p:sp>
      <p:sp>
        <p:nvSpPr>
          <p:cNvPr id="4" name="Date Placeholder 3">
            <a:extLst>
              <a:ext uri="{FF2B5EF4-FFF2-40B4-BE49-F238E27FC236}">
                <a16:creationId xmlns:a16="http://schemas.microsoft.com/office/drawing/2014/main" id="{86EE1D82-2A10-24FC-23DA-E40F5BCE4971}"/>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A7A076A7-A004-8CDF-452E-A53BE198D6EE}"/>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BA53ABD3-1406-CE6E-4739-7B82ECB5B661}"/>
              </a:ext>
            </a:extLst>
          </p:cNvPr>
          <p:cNvSpPr>
            <a:spLocks noGrp="1"/>
          </p:cNvSpPr>
          <p:nvPr>
            <p:ph type="sldNum" sz="quarter" idx="12"/>
          </p:nvPr>
        </p:nvSpPr>
        <p:spPr/>
        <p:txBody>
          <a:bodyPr/>
          <a:lstStyle/>
          <a:p>
            <a:pPr>
              <a:defRPr/>
            </a:pPr>
            <a:fld id="{BCA26155-0DCC-45D2-90B6-32F65F3F6C0F}" type="slidenum">
              <a:rPr lang="en-US" smtClean="0"/>
              <a:pPr>
                <a:defRPr/>
              </a:pPr>
              <a:t>17</a:t>
            </a:fld>
            <a:endParaRPr lang="en-US"/>
          </a:p>
        </p:txBody>
      </p:sp>
      <p:pic>
        <p:nvPicPr>
          <p:cNvPr id="7" name="Picture 6">
            <a:extLst>
              <a:ext uri="{FF2B5EF4-FFF2-40B4-BE49-F238E27FC236}">
                <a16:creationId xmlns:a16="http://schemas.microsoft.com/office/drawing/2014/main" id="{FA74014C-DEAC-2658-C8BB-DD0E77983F6D}"/>
              </a:ext>
            </a:extLst>
          </p:cNvPr>
          <p:cNvPicPr>
            <a:picLocks noChangeAspect="1"/>
          </p:cNvPicPr>
          <p:nvPr/>
        </p:nvPicPr>
        <p:blipFill>
          <a:blip r:embed="rId2"/>
          <a:stretch>
            <a:fillRect/>
          </a:stretch>
        </p:blipFill>
        <p:spPr>
          <a:xfrm>
            <a:off x="3543300" y="2549424"/>
            <a:ext cx="1028700" cy="330200"/>
          </a:xfrm>
          <a:prstGeom prst="rect">
            <a:avLst/>
          </a:prstGeom>
        </p:spPr>
      </p:pic>
      <p:pic>
        <p:nvPicPr>
          <p:cNvPr id="8" name="Picture 7">
            <a:extLst>
              <a:ext uri="{FF2B5EF4-FFF2-40B4-BE49-F238E27FC236}">
                <a16:creationId xmlns:a16="http://schemas.microsoft.com/office/drawing/2014/main" id="{0898D2C0-CAB9-0194-8CF2-20F8E1C9B95B}"/>
              </a:ext>
            </a:extLst>
          </p:cNvPr>
          <p:cNvPicPr>
            <a:picLocks noChangeAspect="1"/>
          </p:cNvPicPr>
          <p:nvPr/>
        </p:nvPicPr>
        <p:blipFill>
          <a:blip r:embed="rId3"/>
          <a:stretch>
            <a:fillRect/>
          </a:stretch>
        </p:blipFill>
        <p:spPr>
          <a:xfrm>
            <a:off x="2776220" y="4088835"/>
            <a:ext cx="2857500" cy="381000"/>
          </a:xfrm>
          <a:prstGeom prst="rect">
            <a:avLst/>
          </a:prstGeom>
        </p:spPr>
      </p:pic>
      <p:sp>
        <p:nvSpPr>
          <p:cNvPr id="9" name="TextBox 8">
            <a:extLst>
              <a:ext uri="{FF2B5EF4-FFF2-40B4-BE49-F238E27FC236}">
                <a16:creationId xmlns:a16="http://schemas.microsoft.com/office/drawing/2014/main" id="{E4EAE968-7CD0-5DF1-E975-2CBC80D845F5}"/>
              </a:ext>
            </a:extLst>
          </p:cNvPr>
          <p:cNvSpPr txBox="1"/>
          <p:nvPr/>
        </p:nvSpPr>
        <p:spPr>
          <a:xfrm>
            <a:off x="5947838" y="4125446"/>
            <a:ext cx="2314419" cy="338554"/>
          </a:xfrm>
          <a:prstGeom prst="rect">
            <a:avLst/>
          </a:prstGeom>
          <a:noFill/>
        </p:spPr>
        <p:txBody>
          <a:bodyPr wrap="square" rtlCol="0">
            <a:spAutoFit/>
          </a:bodyPr>
          <a:lstStyle/>
          <a:p>
            <a:r>
              <a:rPr lang="en-US" sz="1600" dirty="0">
                <a:solidFill>
                  <a:srgbClr val="FF0000"/>
                </a:solidFill>
                <a:latin typeface="+mn-lt"/>
              </a:rPr>
              <a:t>Better than even odds</a:t>
            </a:r>
          </a:p>
        </p:txBody>
      </p:sp>
    </p:spTree>
    <p:extLst>
      <p:ext uri="{BB962C8B-B14F-4D97-AF65-F5344CB8AC3E}">
        <p14:creationId xmlns:p14="http://schemas.microsoft.com/office/powerpoint/2010/main" val="3322627369"/>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A8AF4-D926-338B-FB78-5AF17C933CF9}"/>
              </a:ext>
            </a:extLst>
          </p:cNvPr>
          <p:cNvSpPr>
            <a:spLocks noGrp="1"/>
          </p:cNvSpPr>
          <p:nvPr>
            <p:ph type="title"/>
          </p:nvPr>
        </p:nvSpPr>
        <p:spPr/>
        <p:txBody>
          <a:bodyPr/>
          <a:lstStyle/>
          <a:p>
            <a:r>
              <a:rPr lang="en-US" dirty="0"/>
              <a:t>When it’s not on purpose and it’s not funny…</a:t>
            </a:r>
          </a:p>
        </p:txBody>
      </p:sp>
      <p:sp>
        <p:nvSpPr>
          <p:cNvPr id="3" name="Content Placeholder 2">
            <a:extLst>
              <a:ext uri="{FF2B5EF4-FFF2-40B4-BE49-F238E27FC236}">
                <a16:creationId xmlns:a16="http://schemas.microsoft.com/office/drawing/2014/main" id="{AFDE2315-6D99-347B-436C-A1A61BFCC19A}"/>
              </a:ext>
            </a:extLst>
          </p:cNvPr>
          <p:cNvSpPr>
            <a:spLocks noGrp="1"/>
          </p:cNvSpPr>
          <p:nvPr>
            <p:ph idx="1"/>
          </p:nvPr>
        </p:nvSpPr>
        <p:spPr/>
        <p:txBody>
          <a:bodyPr>
            <a:normAutofit/>
          </a:bodyPr>
          <a:lstStyle/>
          <a:p>
            <a:r>
              <a:rPr lang="en-US" sz="2000" dirty="0"/>
              <a:t>In 1992, the following article was published</a:t>
            </a:r>
          </a:p>
          <a:p>
            <a:pPr lvl="1"/>
            <a:r>
              <a:rPr lang="en-US" sz="1600" dirty="0" err="1"/>
              <a:t>Feychting</a:t>
            </a:r>
            <a:r>
              <a:rPr lang="en-US" sz="1600" dirty="0"/>
              <a:t>, M, and </a:t>
            </a:r>
            <a:r>
              <a:rPr lang="en-US" sz="1600" dirty="0" err="1"/>
              <a:t>Ahlbom</a:t>
            </a:r>
            <a:r>
              <a:rPr lang="en-US" sz="1600" dirty="0"/>
              <a:t>, A. </a:t>
            </a:r>
            <a:r>
              <a:rPr lang="en-US" sz="1600" b="1" dirty="0"/>
              <a:t>Magnetic fields and cancer in people residing near Swedish high voltage power lines</a:t>
            </a:r>
            <a:r>
              <a:rPr lang="en-US" sz="1600" dirty="0"/>
              <a:t>. Sweden: N. p., 1992. Web. </a:t>
            </a:r>
            <a:endParaRPr lang="en-US" sz="2400" dirty="0"/>
          </a:p>
          <a:p>
            <a:r>
              <a:rPr lang="en-US" sz="2000" dirty="0"/>
              <a:t>which contained the following in its abstract</a:t>
            </a:r>
          </a:p>
          <a:p>
            <a:pPr lvl="1"/>
            <a:r>
              <a:rPr lang="en-US" sz="1600" dirty="0"/>
              <a:t>For childhood leukemia and with cut off points at 0.1 and 0.2 [mu]T</a:t>
            </a:r>
            <a:r>
              <a:rPr lang="en-US" sz="1600" b="1" dirty="0"/>
              <a:t>, </a:t>
            </a:r>
            <a:r>
              <a:rPr lang="en-US" sz="1600" b="1" dirty="0">
                <a:highlight>
                  <a:srgbClr val="FFFF00"/>
                </a:highlight>
              </a:rPr>
              <a:t>the relative risk (RR) increased over the two exposure levels and was estimated at 2.7</a:t>
            </a:r>
            <a:r>
              <a:rPr lang="en-US" sz="1600" dirty="0"/>
              <a:t> (95% </a:t>
            </a:r>
            <a:r>
              <a:rPr lang="en-US" sz="1600" dirty="0" err="1"/>
              <a:t>c.l.</a:t>
            </a:r>
            <a:r>
              <a:rPr lang="en-US" sz="1600" dirty="0"/>
              <a:t>: 1.0-6,3) for 0.2 [mu]T and over. </a:t>
            </a:r>
          </a:p>
          <a:p>
            <a:r>
              <a:rPr lang="en-US" sz="2000" dirty="0"/>
              <a:t>In other words, living near power lines appeared to cause a 170% increase in the risk of childhood leukemia.</a:t>
            </a:r>
          </a:p>
          <a:p>
            <a:r>
              <a:rPr lang="en-US" sz="2000" dirty="0"/>
              <a:t>The world, not surprisingly, lost its goddamn mind.</a:t>
            </a:r>
          </a:p>
          <a:p>
            <a:pPr lvl="1"/>
            <a:r>
              <a:rPr lang="en-US" sz="1800" dirty="0"/>
              <a:t>Real estate near power lines plummeted</a:t>
            </a:r>
          </a:p>
          <a:p>
            <a:pPr lvl="1"/>
            <a:r>
              <a:rPr lang="en-US" sz="1800" dirty="0"/>
              <a:t>There was discussion of relocating schools</a:t>
            </a:r>
          </a:p>
          <a:p>
            <a:pPr lvl="1"/>
            <a:r>
              <a:rPr lang="en-US" sz="1800" dirty="0"/>
              <a:t>The term “EMF” (electromagnetic field) entered the common vocabulary, and when people pointed out that fields were stronger under an electric blanket then 50m from a powerline, people started to worry about electric blankets.</a:t>
            </a:r>
          </a:p>
        </p:txBody>
      </p:sp>
      <p:sp>
        <p:nvSpPr>
          <p:cNvPr id="4" name="Date Placeholder 3">
            <a:extLst>
              <a:ext uri="{FF2B5EF4-FFF2-40B4-BE49-F238E27FC236}">
                <a16:creationId xmlns:a16="http://schemas.microsoft.com/office/drawing/2014/main" id="{2B251EAF-C186-FF16-A007-A47D06FAF0E1}"/>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149A1BCB-D47F-D46F-73B2-BC54D37EF59E}"/>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230CEDA3-0000-600D-22F0-562E9C40309B}"/>
              </a:ext>
            </a:extLst>
          </p:cNvPr>
          <p:cNvSpPr>
            <a:spLocks noGrp="1"/>
          </p:cNvSpPr>
          <p:nvPr>
            <p:ph type="sldNum" sz="quarter" idx="12"/>
          </p:nvPr>
        </p:nvSpPr>
        <p:spPr/>
        <p:txBody>
          <a:bodyPr/>
          <a:lstStyle/>
          <a:p>
            <a:pPr>
              <a:defRPr/>
            </a:pPr>
            <a:fld id="{BCA26155-0DCC-45D2-90B6-32F65F3F6C0F}" type="slidenum">
              <a:rPr lang="en-US" smtClean="0"/>
              <a:pPr>
                <a:defRPr/>
              </a:pPr>
              <a:t>18</a:t>
            </a:fld>
            <a:endParaRPr lang="en-US"/>
          </a:p>
        </p:txBody>
      </p:sp>
      <p:sp>
        <p:nvSpPr>
          <p:cNvPr id="7" name="Rectangle 6">
            <a:extLst>
              <a:ext uri="{FF2B5EF4-FFF2-40B4-BE49-F238E27FC236}">
                <a16:creationId xmlns:a16="http://schemas.microsoft.com/office/drawing/2014/main" id="{45C4C73D-DA19-2BAF-6ADB-7D9A2E77F690}"/>
              </a:ext>
            </a:extLst>
          </p:cNvPr>
          <p:cNvSpPr/>
          <p:nvPr/>
        </p:nvSpPr>
        <p:spPr>
          <a:xfrm>
            <a:off x="903514" y="2928257"/>
            <a:ext cx="1709057" cy="326572"/>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2857647"/>
      </p:ext>
    </p:extLst>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BD276-B558-3495-A8FB-F024A34F4DD2}"/>
              </a:ext>
            </a:extLst>
          </p:cNvPr>
          <p:cNvSpPr>
            <a:spLocks noGrp="1"/>
          </p:cNvSpPr>
          <p:nvPr>
            <p:ph type="title"/>
          </p:nvPr>
        </p:nvSpPr>
        <p:spPr/>
        <p:txBody>
          <a:bodyPr/>
          <a:lstStyle/>
          <a:p>
            <a:r>
              <a:rPr lang="en-US" dirty="0"/>
              <a:t>The Problem with the Study</a:t>
            </a:r>
          </a:p>
        </p:txBody>
      </p:sp>
      <p:sp>
        <p:nvSpPr>
          <p:cNvPr id="3" name="Content Placeholder 2">
            <a:extLst>
              <a:ext uri="{FF2B5EF4-FFF2-40B4-BE49-F238E27FC236}">
                <a16:creationId xmlns:a16="http://schemas.microsoft.com/office/drawing/2014/main" id="{A736449D-2BA4-6FB9-C864-66CD7552FA17}"/>
              </a:ext>
            </a:extLst>
          </p:cNvPr>
          <p:cNvSpPr>
            <a:spLocks noGrp="1"/>
          </p:cNvSpPr>
          <p:nvPr>
            <p:ph idx="1"/>
          </p:nvPr>
        </p:nvSpPr>
        <p:spPr/>
        <p:txBody>
          <a:bodyPr>
            <a:normAutofit lnSpcReduction="10000"/>
          </a:bodyPr>
          <a:lstStyle/>
          <a:p>
            <a:r>
              <a:rPr lang="en-US" sz="2000" dirty="0"/>
              <a:t>First of all, it’s worth noting that this is a report, not a refereed journal publication.</a:t>
            </a:r>
          </a:p>
          <a:p>
            <a:r>
              <a:rPr lang="en-US" sz="2000" dirty="0"/>
              <a:t>Second, the authors were honest, and the big problem is right there in the abstract.</a:t>
            </a:r>
          </a:p>
          <a:p>
            <a:pPr lvl="1"/>
            <a:r>
              <a:rPr lang="en-US" sz="1600" dirty="0"/>
              <a:t>The study was designed as a case-control study, based on the population comprised of everyone who have lived on a property located within 300 meters from any of the 220 and 400 kV power lines in Sweden during the period from 1960 through 1985. […] The cases were all instances of cancer diagnosed between 1960-85. </a:t>
            </a:r>
            <a:r>
              <a:rPr lang="en-US" sz="1600" b="1" dirty="0">
                <a:highlight>
                  <a:srgbClr val="FFFF00"/>
                </a:highlight>
              </a:rPr>
              <a:t>For children, all types of cancer were included</a:t>
            </a:r>
            <a:r>
              <a:rPr lang="en-US" sz="1600" dirty="0"/>
              <a:t>, while for adults the study was restricted to leukemia and brain tumors.  </a:t>
            </a:r>
          </a:p>
          <a:p>
            <a:r>
              <a:rPr lang="en-US" sz="2000" dirty="0"/>
              <a:t>In other words, they had done by accident what the chocolate guys had done on purpose:  measured a bunch of things and published the one that had a statistical uptick.</a:t>
            </a:r>
          </a:p>
          <a:p>
            <a:r>
              <a:rPr lang="en-US" sz="2000" dirty="0"/>
              <a:t>They also never accounted for “confounding factors”, example</a:t>
            </a:r>
          </a:p>
          <a:p>
            <a:pPr lvl="1"/>
            <a:r>
              <a:rPr lang="en-US" sz="1800" dirty="0"/>
              <a:t>Health tends to correlate with wealth</a:t>
            </a:r>
          </a:p>
          <a:p>
            <a:pPr lvl="1"/>
            <a:r>
              <a:rPr lang="en-US" sz="1800" dirty="0"/>
              <a:t>Rich people don’t tend to live near power lines, because they’re unsightly</a:t>
            </a:r>
          </a:p>
          <a:p>
            <a:r>
              <a:rPr lang="en-US" sz="2000" dirty="0"/>
              <a:t>Note: even though this started the whole thing, and there have been many studies since, no one cites this anymore because it has been completely discredited.</a:t>
            </a:r>
          </a:p>
        </p:txBody>
      </p:sp>
      <p:sp>
        <p:nvSpPr>
          <p:cNvPr id="4" name="Date Placeholder 3">
            <a:extLst>
              <a:ext uri="{FF2B5EF4-FFF2-40B4-BE49-F238E27FC236}">
                <a16:creationId xmlns:a16="http://schemas.microsoft.com/office/drawing/2014/main" id="{59339F79-C6A3-1DCA-F8D8-F3ACA5F5586C}"/>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03A45A70-F508-344F-8F49-C6B2900A0C55}"/>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977C307A-4EC5-49F4-D7DA-CFC48D90CC3C}"/>
              </a:ext>
            </a:extLst>
          </p:cNvPr>
          <p:cNvSpPr>
            <a:spLocks noGrp="1"/>
          </p:cNvSpPr>
          <p:nvPr>
            <p:ph type="sldNum" sz="quarter" idx="12"/>
          </p:nvPr>
        </p:nvSpPr>
        <p:spPr/>
        <p:txBody>
          <a:bodyPr/>
          <a:lstStyle/>
          <a:p>
            <a:pPr>
              <a:defRPr/>
            </a:pPr>
            <a:fld id="{BCA26155-0DCC-45D2-90B6-32F65F3F6C0F}" type="slidenum">
              <a:rPr lang="en-US" smtClean="0"/>
              <a:pPr>
                <a:defRPr/>
              </a:pPr>
              <a:t>19</a:t>
            </a:fld>
            <a:endParaRPr lang="en-US"/>
          </a:p>
        </p:txBody>
      </p:sp>
    </p:spTree>
    <p:extLst>
      <p:ext uri="{BB962C8B-B14F-4D97-AF65-F5344CB8AC3E}">
        <p14:creationId xmlns:p14="http://schemas.microsoft.com/office/powerpoint/2010/main" val="3791436141"/>
      </p:ext>
    </p:extLst>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8179D-9F12-523D-4B0B-A08467FB3A6B}"/>
              </a:ext>
            </a:extLst>
          </p:cNvPr>
          <p:cNvSpPr>
            <a:spLocks noGrp="1"/>
          </p:cNvSpPr>
          <p:nvPr>
            <p:ph type="title"/>
          </p:nvPr>
        </p:nvSpPr>
        <p:spPr/>
        <p:txBody>
          <a:bodyPr/>
          <a:lstStyle/>
          <a:p>
            <a:r>
              <a:rPr lang="en-US" dirty="0"/>
              <a:t>But What About Later Studies?</a:t>
            </a:r>
          </a:p>
        </p:txBody>
      </p:sp>
      <p:sp>
        <p:nvSpPr>
          <p:cNvPr id="3" name="Content Placeholder 2">
            <a:extLst>
              <a:ext uri="{FF2B5EF4-FFF2-40B4-BE49-F238E27FC236}">
                <a16:creationId xmlns:a16="http://schemas.microsoft.com/office/drawing/2014/main" id="{C3504A54-71FF-1064-8751-64C32A79B0F3}"/>
              </a:ext>
            </a:extLst>
          </p:cNvPr>
          <p:cNvSpPr>
            <a:spLocks noGrp="1"/>
          </p:cNvSpPr>
          <p:nvPr>
            <p:ph idx="1"/>
          </p:nvPr>
        </p:nvSpPr>
        <p:spPr/>
        <p:txBody>
          <a:bodyPr>
            <a:normAutofit/>
          </a:bodyPr>
          <a:lstStyle/>
          <a:p>
            <a:r>
              <a:rPr lang="en-US" sz="1800" dirty="0"/>
              <a:t>Remember Bob’s Rule #3</a:t>
            </a:r>
          </a:p>
          <a:p>
            <a:pPr marL="731520" lvl="1" indent="-457200">
              <a:buFont typeface="+mj-lt"/>
              <a:buAutoNum type="arabicPeriod" startAt="3"/>
            </a:pPr>
            <a:r>
              <a:rPr lang="en-US" sz="1600" b="1" dirty="0">
                <a:highlight>
                  <a:srgbClr val="FFFF00"/>
                </a:highlight>
              </a:rPr>
              <a:t>The scientific effect involved is always at the very limit of detection.</a:t>
            </a:r>
          </a:p>
          <a:p>
            <a:r>
              <a:rPr lang="en-US" sz="1800" dirty="0"/>
              <a:t>There have been many studies since the original one, and many have claimed a statistically significant link between power lines and cancer (sometimes leukemia, sometimes other cancers), but after 30 years, </a:t>
            </a:r>
            <a:r>
              <a:rPr lang="en-US" sz="1800" i="1" dirty="0"/>
              <a:t>the significance has not increased.</a:t>
            </a:r>
          </a:p>
          <a:p>
            <a:r>
              <a:rPr lang="en-US" sz="1800" dirty="0"/>
              <a:t>How real science progresses</a:t>
            </a:r>
            <a:r>
              <a:rPr lang="en-US" sz="1800" i="1" dirty="0"/>
              <a:t>…</a:t>
            </a:r>
          </a:p>
          <a:p>
            <a:endParaRPr lang="en-US" sz="1800" dirty="0"/>
          </a:p>
        </p:txBody>
      </p:sp>
      <p:sp>
        <p:nvSpPr>
          <p:cNvPr id="4" name="Date Placeholder 3">
            <a:extLst>
              <a:ext uri="{FF2B5EF4-FFF2-40B4-BE49-F238E27FC236}">
                <a16:creationId xmlns:a16="http://schemas.microsoft.com/office/drawing/2014/main" id="{7513366B-7464-717F-B7C0-1AF8233B2748}"/>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F85DBF42-6434-0AD1-2050-E7C33D9C907E}"/>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6CA08F01-46F5-B75A-F04F-FAA8DE611258}"/>
              </a:ext>
            </a:extLst>
          </p:cNvPr>
          <p:cNvSpPr>
            <a:spLocks noGrp="1"/>
          </p:cNvSpPr>
          <p:nvPr>
            <p:ph type="sldNum" sz="quarter" idx="12"/>
          </p:nvPr>
        </p:nvSpPr>
        <p:spPr/>
        <p:txBody>
          <a:bodyPr/>
          <a:lstStyle/>
          <a:p>
            <a:pPr>
              <a:defRPr/>
            </a:pPr>
            <a:fld id="{BCA26155-0DCC-45D2-90B6-32F65F3F6C0F}" type="slidenum">
              <a:rPr lang="en-US" smtClean="0"/>
              <a:pPr>
                <a:defRPr/>
              </a:pPr>
              <a:t>20</a:t>
            </a:fld>
            <a:endParaRPr lang="en-US"/>
          </a:p>
        </p:txBody>
      </p:sp>
      <p:pic>
        <p:nvPicPr>
          <p:cNvPr id="7" name="Picture 6">
            <a:extLst>
              <a:ext uri="{FF2B5EF4-FFF2-40B4-BE49-F238E27FC236}">
                <a16:creationId xmlns:a16="http://schemas.microsoft.com/office/drawing/2014/main" id="{169717EE-CB09-DC86-C41E-486D066461E6}"/>
              </a:ext>
            </a:extLst>
          </p:cNvPr>
          <p:cNvPicPr>
            <a:picLocks noChangeAspect="1"/>
          </p:cNvPicPr>
          <p:nvPr/>
        </p:nvPicPr>
        <p:blipFill>
          <a:blip r:embed="rId2"/>
          <a:stretch>
            <a:fillRect/>
          </a:stretch>
        </p:blipFill>
        <p:spPr>
          <a:xfrm>
            <a:off x="1915887" y="3531819"/>
            <a:ext cx="2645227" cy="3260869"/>
          </a:xfrm>
          <a:prstGeom prst="rect">
            <a:avLst/>
          </a:prstGeom>
        </p:spPr>
      </p:pic>
      <p:sp>
        <p:nvSpPr>
          <p:cNvPr id="8" name="Oval 7">
            <a:extLst>
              <a:ext uri="{FF2B5EF4-FFF2-40B4-BE49-F238E27FC236}">
                <a16:creationId xmlns:a16="http://schemas.microsoft.com/office/drawing/2014/main" id="{B199A57B-EA8A-B5F8-B0BF-ECBB71BAA641}"/>
              </a:ext>
            </a:extLst>
          </p:cNvPr>
          <p:cNvSpPr/>
          <p:nvPr/>
        </p:nvSpPr>
        <p:spPr>
          <a:xfrm>
            <a:off x="3320144" y="6099392"/>
            <a:ext cx="518160" cy="415925"/>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ADE0218-B35C-7BD8-58CA-541F23B3CAF2}"/>
              </a:ext>
            </a:extLst>
          </p:cNvPr>
          <p:cNvSpPr txBox="1"/>
          <p:nvPr/>
        </p:nvSpPr>
        <p:spPr>
          <a:xfrm>
            <a:off x="105442" y="4142369"/>
            <a:ext cx="1799558" cy="1200329"/>
          </a:xfrm>
          <a:prstGeom prst="rect">
            <a:avLst/>
          </a:prstGeom>
          <a:noFill/>
        </p:spPr>
        <p:txBody>
          <a:bodyPr wrap="square" rtlCol="0">
            <a:spAutoFit/>
          </a:bodyPr>
          <a:lstStyle/>
          <a:p>
            <a:pPr algn="r"/>
            <a:r>
              <a:rPr lang="en-US" sz="1200" dirty="0">
                <a:solidFill>
                  <a:srgbClr val="FF0000"/>
                </a:solidFill>
                <a:latin typeface="+mn-lt"/>
              </a:rPr>
              <a:t>First evidence of the Z boson (1983)</a:t>
            </a:r>
          </a:p>
          <a:p>
            <a:pPr algn="r"/>
            <a:endParaRPr lang="en-US" sz="1200" dirty="0">
              <a:solidFill>
                <a:srgbClr val="FF0000"/>
              </a:solidFill>
              <a:latin typeface="+mn-lt"/>
            </a:endParaRPr>
          </a:p>
          <a:p>
            <a:pPr algn="r"/>
            <a:r>
              <a:rPr lang="en-US" sz="1200" dirty="0">
                <a:solidFill>
                  <a:srgbClr val="FF0000"/>
                </a:solidFill>
                <a:latin typeface="+mn-lt"/>
              </a:rPr>
              <a:t>Won 1984 Nobel Prize for Carlo Rubbia and Simon Van Der Meer</a:t>
            </a:r>
          </a:p>
        </p:txBody>
      </p:sp>
      <p:cxnSp>
        <p:nvCxnSpPr>
          <p:cNvPr id="10" name="Straight Arrow Connector 9">
            <a:extLst>
              <a:ext uri="{FF2B5EF4-FFF2-40B4-BE49-F238E27FC236}">
                <a16:creationId xmlns:a16="http://schemas.microsoft.com/office/drawing/2014/main" id="{D6DFB358-AD6A-AE20-69B7-68A2AE31FE42}"/>
              </a:ext>
            </a:extLst>
          </p:cNvPr>
          <p:cNvCxnSpPr>
            <a:cxnSpLocks/>
          </p:cNvCxnSpPr>
          <p:nvPr/>
        </p:nvCxnSpPr>
        <p:spPr>
          <a:xfrm>
            <a:off x="1870041" y="4995409"/>
            <a:ext cx="1393372" cy="110398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38932019-B70B-B1B2-C49C-B86D99DDEC07}"/>
              </a:ext>
            </a:extLst>
          </p:cNvPr>
          <p:cNvPicPr>
            <a:picLocks noChangeAspect="1"/>
          </p:cNvPicPr>
          <p:nvPr/>
        </p:nvPicPr>
        <p:blipFill>
          <a:blip r:embed="rId3"/>
          <a:stretch>
            <a:fillRect/>
          </a:stretch>
        </p:blipFill>
        <p:spPr>
          <a:xfrm>
            <a:off x="4737587" y="3045191"/>
            <a:ext cx="3837596" cy="2505985"/>
          </a:xfrm>
          <a:prstGeom prst="rect">
            <a:avLst/>
          </a:prstGeom>
        </p:spPr>
      </p:pic>
      <p:sp>
        <p:nvSpPr>
          <p:cNvPr id="14" name="Oval 13">
            <a:extLst>
              <a:ext uri="{FF2B5EF4-FFF2-40B4-BE49-F238E27FC236}">
                <a16:creationId xmlns:a16="http://schemas.microsoft.com/office/drawing/2014/main" id="{F102AF60-AAFC-2CF4-64F8-41B6FF2BB1D0}"/>
              </a:ext>
            </a:extLst>
          </p:cNvPr>
          <p:cNvSpPr/>
          <p:nvPr/>
        </p:nvSpPr>
        <p:spPr>
          <a:xfrm>
            <a:off x="7663543" y="4298183"/>
            <a:ext cx="492034" cy="583303"/>
          </a:xfrm>
          <a:prstGeom prst="ellipse">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79BDB9A-A043-E4E6-B97B-E604597A5687}"/>
              </a:ext>
            </a:extLst>
          </p:cNvPr>
          <p:cNvSpPr txBox="1"/>
          <p:nvPr/>
        </p:nvSpPr>
        <p:spPr>
          <a:xfrm>
            <a:off x="4973584" y="5690560"/>
            <a:ext cx="3950401" cy="276999"/>
          </a:xfrm>
          <a:prstGeom prst="rect">
            <a:avLst/>
          </a:prstGeom>
          <a:noFill/>
        </p:spPr>
        <p:txBody>
          <a:bodyPr wrap="square" rtlCol="0">
            <a:spAutoFit/>
          </a:bodyPr>
          <a:lstStyle/>
          <a:p>
            <a:pPr algn="r"/>
            <a:r>
              <a:rPr lang="en-US" sz="1200" dirty="0">
                <a:solidFill>
                  <a:srgbClr val="FF0000"/>
                </a:solidFill>
                <a:latin typeface="+mn-lt"/>
              </a:rPr>
              <a:t>A tiny, tiny fraction of the Z bosons at the LHC</a:t>
            </a:r>
          </a:p>
        </p:txBody>
      </p:sp>
      <p:cxnSp>
        <p:nvCxnSpPr>
          <p:cNvPr id="16" name="Straight Arrow Connector 15">
            <a:extLst>
              <a:ext uri="{FF2B5EF4-FFF2-40B4-BE49-F238E27FC236}">
                <a16:creationId xmlns:a16="http://schemas.microsoft.com/office/drawing/2014/main" id="{C1D37757-388E-CA9C-7EE8-D5F4A60E0A36}"/>
              </a:ext>
            </a:extLst>
          </p:cNvPr>
          <p:cNvCxnSpPr>
            <a:cxnSpLocks/>
          </p:cNvCxnSpPr>
          <p:nvPr/>
        </p:nvCxnSpPr>
        <p:spPr>
          <a:xfrm flipV="1">
            <a:off x="7308915" y="4881486"/>
            <a:ext cx="452599" cy="78029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3DD579C0-A2A7-6483-139D-92B7450FE820}"/>
              </a:ext>
            </a:extLst>
          </p:cNvPr>
          <p:cNvSpPr txBox="1"/>
          <p:nvPr/>
        </p:nvSpPr>
        <p:spPr>
          <a:xfrm>
            <a:off x="4617845" y="6244842"/>
            <a:ext cx="4526155" cy="323165"/>
          </a:xfrm>
          <a:prstGeom prst="rect">
            <a:avLst/>
          </a:prstGeom>
          <a:noFill/>
        </p:spPr>
        <p:txBody>
          <a:bodyPr wrap="square" rtlCol="0">
            <a:spAutoFit/>
          </a:bodyPr>
          <a:lstStyle/>
          <a:p>
            <a:pPr algn="r"/>
            <a:r>
              <a:rPr lang="en-US" sz="1500" dirty="0">
                <a:solidFill>
                  <a:srgbClr val="FF0000"/>
                </a:solidFill>
                <a:latin typeface="+mn-lt"/>
              </a:rPr>
              <a:t>“Yesterday’s Nobel Prize is today’s background”</a:t>
            </a:r>
          </a:p>
        </p:txBody>
      </p:sp>
    </p:spTree>
    <p:extLst>
      <p:ext uri="{BB962C8B-B14F-4D97-AF65-F5344CB8AC3E}">
        <p14:creationId xmlns:p14="http://schemas.microsoft.com/office/powerpoint/2010/main" val="68339114"/>
      </p:ext>
    </p:extLst>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7FB3-D274-5355-4BD9-92BAF7C30A92}"/>
              </a:ext>
            </a:extLst>
          </p:cNvPr>
          <p:cNvSpPr>
            <a:spLocks noGrp="1"/>
          </p:cNvSpPr>
          <p:nvPr>
            <p:ph type="title"/>
          </p:nvPr>
        </p:nvSpPr>
        <p:spPr/>
        <p:txBody>
          <a:bodyPr/>
          <a:lstStyle/>
          <a:p>
            <a:r>
              <a:rPr lang="en-US" dirty="0"/>
              <a:t>Statistical Errors vs. Systematic Errors</a:t>
            </a:r>
          </a:p>
        </p:txBody>
      </p:sp>
      <p:sp>
        <p:nvSpPr>
          <p:cNvPr id="3" name="Content Placeholder 2">
            <a:extLst>
              <a:ext uri="{FF2B5EF4-FFF2-40B4-BE49-F238E27FC236}">
                <a16:creationId xmlns:a16="http://schemas.microsoft.com/office/drawing/2014/main" id="{3EB29028-8838-9EDA-85C5-5940EEB67B3A}"/>
              </a:ext>
            </a:extLst>
          </p:cNvPr>
          <p:cNvSpPr>
            <a:spLocks noGrp="1"/>
          </p:cNvSpPr>
          <p:nvPr>
            <p:ph idx="1"/>
          </p:nvPr>
        </p:nvSpPr>
        <p:spPr/>
        <p:txBody>
          <a:bodyPr>
            <a:normAutofit/>
          </a:bodyPr>
          <a:lstStyle/>
          <a:p>
            <a:r>
              <a:rPr lang="en-US" sz="1800" dirty="0"/>
              <a:t>Let’s consider that plot I just showed.  The Z boson can decay to two muons, and we calculate its mass by measuring the momentum and trajectories of those particles.</a:t>
            </a:r>
          </a:p>
          <a:p>
            <a:endParaRPr lang="en-US" sz="1800" dirty="0"/>
          </a:p>
          <a:p>
            <a:endParaRPr lang="en-US" sz="1800" dirty="0"/>
          </a:p>
          <a:p>
            <a:endParaRPr lang="en-US" sz="1800" dirty="0"/>
          </a:p>
          <a:p>
            <a:pPr marL="0" indent="0">
              <a:buNone/>
            </a:pPr>
            <a:endParaRPr lang="en-US" sz="1800" dirty="0"/>
          </a:p>
          <a:p>
            <a:r>
              <a:rPr lang="en-US" sz="1800" dirty="0"/>
              <a:t>The result will have a </a:t>
            </a:r>
            <a:r>
              <a:rPr lang="en-US" sz="1800" i="1" dirty="0"/>
              <a:t>statistical error</a:t>
            </a:r>
            <a:r>
              <a:rPr lang="en-US" sz="1800" dirty="0"/>
              <a:t>, which will improved as</a:t>
            </a:r>
          </a:p>
          <a:p>
            <a:endParaRPr lang="en-US" sz="1100" dirty="0"/>
          </a:p>
          <a:p>
            <a:r>
              <a:rPr lang="en-US" sz="1800" dirty="0"/>
              <a:t>It will also have a </a:t>
            </a:r>
            <a:r>
              <a:rPr lang="en-US" sz="1800" i="1" dirty="0"/>
              <a:t>systematic error</a:t>
            </a:r>
            <a:r>
              <a:rPr lang="en-US" sz="1800" dirty="0"/>
              <a:t>, based on things like</a:t>
            </a:r>
          </a:p>
          <a:p>
            <a:pPr lvl="1"/>
            <a:r>
              <a:rPr lang="en-US" sz="1600" dirty="0"/>
              <a:t>My knowledge of the muon mass</a:t>
            </a:r>
          </a:p>
          <a:p>
            <a:pPr lvl="1"/>
            <a:r>
              <a:rPr lang="en-US" sz="1600" dirty="0"/>
              <a:t>The energy calibration of my detector</a:t>
            </a:r>
          </a:p>
          <a:p>
            <a:pPr lvl="1"/>
            <a:r>
              <a:rPr lang="en-US" sz="1600" dirty="0"/>
              <a:t>An increase in statistics will not improve this!</a:t>
            </a:r>
          </a:p>
          <a:p>
            <a:r>
              <a:rPr lang="en-US" sz="1800" dirty="0"/>
              <a:t>If statistical and systematic errors are comparable, they are often reported separately.  For example, an early measurement of the Z mass was reported as </a:t>
            </a:r>
          </a:p>
        </p:txBody>
      </p:sp>
      <p:sp>
        <p:nvSpPr>
          <p:cNvPr id="4" name="Date Placeholder 3">
            <a:extLst>
              <a:ext uri="{FF2B5EF4-FFF2-40B4-BE49-F238E27FC236}">
                <a16:creationId xmlns:a16="http://schemas.microsoft.com/office/drawing/2014/main" id="{1F796586-71DB-6EBD-33D6-FF600C3E01CC}"/>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4C55B967-95C9-81FA-AC97-A41D6210CAF5}"/>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BB610083-0933-42B5-5079-E0383A96370D}"/>
              </a:ext>
            </a:extLst>
          </p:cNvPr>
          <p:cNvSpPr>
            <a:spLocks noGrp="1"/>
          </p:cNvSpPr>
          <p:nvPr>
            <p:ph type="sldNum" sz="quarter" idx="12"/>
          </p:nvPr>
        </p:nvSpPr>
        <p:spPr/>
        <p:txBody>
          <a:bodyPr/>
          <a:lstStyle/>
          <a:p>
            <a:pPr>
              <a:defRPr/>
            </a:pPr>
            <a:fld id="{BCA26155-0DCC-45D2-90B6-32F65F3F6C0F}" type="slidenum">
              <a:rPr lang="en-US" smtClean="0"/>
              <a:pPr>
                <a:defRPr/>
              </a:pPr>
              <a:t>21</a:t>
            </a:fld>
            <a:endParaRPr lang="en-US"/>
          </a:p>
        </p:txBody>
      </p:sp>
      <p:pic>
        <p:nvPicPr>
          <p:cNvPr id="8" name="Picture 7">
            <a:extLst>
              <a:ext uri="{FF2B5EF4-FFF2-40B4-BE49-F238E27FC236}">
                <a16:creationId xmlns:a16="http://schemas.microsoft.com/office/drawing/2014/main" id="{181A14FD-15B6-BF34-F224-C20A711AB980}"/>
              </a:ext>
            </a:extLst>
          </p:cNvPr>
          <p:cNvPicPr>
            <a:picLocks noChangeAspect="1"/>
          </p:cNvPicPr>
          <p:nvPr/>
        </p:nvPicPr>
        <p:blipFill>
          <a:blip r:embed="rId2"/>
          <a:stretch>
            <a:fillRect/>
          </a:stretch>
        </p:blipFill>
        <p:spPr>
          <a:xfrm>
            <a:off x="1909536" y="1967064"/>
            <a:ext cx="4295322" cy="1349108"/>
          </a:xfrm>
          <a:prstGeom prst="rect">
            <a:avLst/>
          </a:prstGeom>
        </p:spPr>
      </p:pic>
      <p:pic>
        <p:nvPicPr>
          <p:cNvPr id="9" name="Picture 8">
            <a:extLst>
              <a:ext uri="{FF2B5EF4-FFF2-40B4-BE49-F238E27FC236}">
                <a16:creationId xmlns:a16="http://schemas.microsoft.com/office/drawing/2014/main" id="{05188A5E-F9D2-9EE4-5448-595BE7E5F8B1}"/>
              </a:ext>
            </a:extLst>
          </p:cNvPr>
          <p:cNvPicPr>
            <a:picLocks noChangeAspect="1"/>
          </p:cNvPicPr>
          <p:nvPr/>
        </p:nvPicPr>
        <p:blipFill>
          <a:blip r:embed="rId3"/>
          <a:stretch>
            <a:fillRect/>
          </a:stretch>
        </p:blipFill>
        <p:spPr>
          <a:xfrm>
            <a:off x="6935225" y="3327058"/>
            <a:ext cx="378784" cy="496027"/>
          </a:xfrm>
          <a:prstGeom prst="rect">
            <a:avLst/>
          </a:prstGeom>
        </p:spPr>
      </p:pic>
      <p:pic>
        <p:nvPicPr>
          <p:cNvPr id="10" name="Picture 9">
            <a:extLst>
              <a:ext uri="{FF2B5EF4-FFF2-40B4-BE49-F238E27FC236}">
                <a16:creationId xmlns:a16="http://schemas.microsoft.com/office/drawing/2014/main" id="{C8D299C0-DA10-FF13-AA6E-E535299DBBAB}"/>
              </a:ext>
            </a:extLst>
          </p:cNvPr>
          <p:cNvPicPr>
            <a:picLocks noChangeAspect="1"/>
          </p:cNvPicPr>
          <p:nvPr/>
        </p:nvPicPr>
        <p:blipFill>
          <a:blip r:embed="rId4"/>
          <a:srcRect t="12592"/>
          <a:stretch>
            <a:fillRect/>
          </a:stretch>
        </p:blipFill>
        <p:spPr>
          <a:xfrm>
            <a:off x="1814284" y="6103189"/>
            <a:ext cx="4838041" cy="362924"/>
          </a:xfrm>
          <a:prstGeom prst="rect">
            <a:avLst/>
          </a:prstGeom>
        </p:spPr>
      </p:pic>
    </p:spTree>
    <p:extLst>
      <p:ext uri="{BB962C8B-B14F-4D97-AF65-F5344CB8AC3E}">
        <p14:creationId xmlns:p14="http://schemas.microsoft.com/office/powerpoint/2010/main" val="347994158"/>
      </p:ext>
    </p:extLst>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1A694-FCA4-739C-5031-1ECE4717F276}"/>
              </a:ext>
            </a:extLst>
          </p:cNvPr>
          <p:cNvSpPr>
            <a:spLocks noGrp="1"/>
          </p:cNvSpPr>
          <p:nvPr>
            <p:ph type="title"/>
          </p:nvPr>
        </p:nvSpPr>
        <p:spPr/>
        <p:txBody>
          <a:bodyPr/>
          <a:lstStyle/>
          <a:p>
            <a:r>
              <a:rPr lang="en-US" dirty="0"/>
              <a:t>Errors on Combined Results</a:t>
            </a:r>
          </a:p>
        </p:txBody>
      </p:sp>
      <p:sp>
        <p:nvSpPr>
          <p:cNvPr id="3" name="Content Placeholder 2">
            <a:extLst>
              <a:ext uri="{FF2B5EF4-FFF2-40B4-BE49-F238E27FC236}">
                <a16:creationId xmlns:a16="http://schemas.microsoft.com/office/drawing/2014/main" id="{C6E9288E-6804-E9B5-D652-633CA20636A7}"/>
              </a:ext>
            </a:extLst>
          </p:cNvPr>
          <p:cNvSpPr>
            <a:spLocks noGrp="1"/>
          </p:cNvSpPr>
          <p:nvPr>
            <p:ph idx="1"/>
          </p:nvPr>
        </p:nvSpPr>
        <p:spPr/>
        <p:txBody>
          <a:bodyPr>
            <a:normAutofit/>
          </a:bodyPr>
          <a:lstStyle/>
          <a:p>
            <a:r>
              <a:rPr lang="en-US" sz="2000" dirty="0"/>
              <a:t>Statistical errors on separate results are always “uncorrelated”, meaning they do not depend on each other.</a:t>
            </a:r>
          </a:p>
          <a:p>
            <a:r>
              <a:rPr lang="en-US" sz="2000" dirty="0"/>
              <a:t>If I have two measurements of </a:t>
            </a:r>
            <a:r>
              <a:rPr lang="en-US" sz="2000" i="1" dirty="0"/>
              <a:t>exactly the same thing</a:t>
            </a:r>
            <a:r>
              <a:rPr lang="en-US" sz="2000" dirty="0"/>
              <a:t>, say</a:t>
            </a:r>
            <a:br>
              <a:rPr lang="en-US" sz="2000" dirty="0"/>
            </a:br>
            <a:br>
              <a:rPr lang="en-US" sz="2000" dirty="0"/>
            </a:br>
            <a:br>
              <a:rPr lang="en-US" sz="2000" dirty="0"/>
            </a:br>
            <a:br>
              <a:rPr lang="en-US" sz="2000" dirty="0"/>
            </a:br>
            <a:r>
              <a:rPr lang="en-US" sz="2000" dirty="0"/>
              <a:t>uncorrelated errors add </a:t>
            </a:r>
            <a:r>
              <a:rPr lang="en-US" sz="2000" i="1" dirty="0"/>
              <a:t>in quadrature </a:t>
            </a:r>
          </a:p>
          <a:p>
            <a:endParaRPr lang="en-US" sz="2000" dirty="0"/>
          </a:p>
          <a:p>
            <a:pPr marL="0" indent="0">
              <a:buNone/>
            </a:pPr>
            <a:endParaRPr lang="en-US" dirty="0"/>
          </a:p>
          <a:p>
            <a:endParaRPr lang="en-US" sz="2000" dirty="0"/>
          </a:p>
          <a:p>
            <a:r>
              <a:rPr lang="en-US" sz="2000" dirty="0"/>
              <a:t>Combining systematic errors, or results from different types of experiments can be much more complicated.</a:t>
            </a:r>
          </a:p>
          <a:p>
            <a:r>
              <a:rPr lang="en-US" sz="2000" dirty="0"/>
              <a:t>We’ll talk about this much more in the “Bad Medicine” lecture, where it’s a huge issue.</a:t>
            </a:r>
          </a:p>
        </p:txBody>
      </p:sp>
      <p:sp>
        <p:nvSpPr>
          <p:cNvPr id="4" name="Date Placeholder 3">
            <a:extLst>
              <a:ext uri="{FF2B5EF4-FFF2-40B4-BE49-F238E27FC236}">
                <a16:creationId xmlns:a16="http://schemas.microsoft.com/office/drawing/2014/main" id="{07C283FE-5EFC-F7D8-B6C7-65B5BDD63AA2}"/>
              </a:ext>
            </a:extLst>
          </p:cNvPr>
          <p:cNvSpPr>
            <a:spLocks noGrp="1"/>
          </p:cNvSpPr>
          <p:nvPr>
            <p:ph type="dt" sz="half" idx="10"/>
          </p:nvPr>
        </p:nvSpPr>
        <p:spPr/>
        <p:txBody>
          <a:bodyPr/>
          <a:lstStyle/>
          <a:p>
            <a:pPr>
              <a:defRPr/>
            </a:pPr>
            <a:r>
              <a:rPr lang="en-US"/>
              <a:t>FRS-003-009 - Fall 2025</a:t>
            </a:r>
            <a:endParaRPr lang="en-US" dirty="0"/>
          </a:p>
        </p:txBody>
      </p:sp>
      <p:sp>
        <p:nvSpPr>
          <p:cNvPr id="5" name="Footer Placeholder 4">
            <a:extLst>
              <a:ext uri="{FF2B5EF4-FFF2-40B4-BE49-F238E27FC236}">
                <a16:creationId xmlns:a16="http://schemas.microsoft.com/office/drawing/2014/main" id="{DB7C801F-D174-3569-1B76-925F8584B9BD}"/>
              </a:ext>
            </a:extLst>
          </p:cNvPr>
          <p:cNvSpPr>
            <a:spLocks noGrp="1"/>
          </p:cNvSpPr>
          <p:nvPr>
            <p:ph type="ftr" sz="quarter" idx="11"/>
          </p:nvPr>
        </p:nvSpPr>
        <p:spPr/>
        <p:txBody>
          <a:bodyPr/>
          <a:lstStyle/>
          <a:p>
            <a:pPr>
              <a:defRPr/>
            </a:pPr>
            <a:r>
              <a:rPr lang="en-US"/>
              <a:t>LIes, Damned Lies, and Statistics</a:t>
            </a:r>
            <a:endParaRPr lang="en-US">
              <a:latin typeface="+mn-lt"/>
            </a:endParaRPr>
          </a:p>
        </p:txBody>
      </p:sp>
      <p:sp>
        <p:nvSpPr>
          <p:cNvPr id="6" name="Slide Number Placeholder 5">
            <a:extLst>
              <a:ext uri="{FF2B5EF4-FFF2-40B4-BE49-F238E27FC236}">
                <a16:creationId xmlns:a16="http://schemas.microsoft.com/office/drawing/2014/main" id="{5C1F7EB0-B13F-A194-26CE-D0BB4523D8E6}"/>
              </a:ext>
            </a:extLst>
          </p:cNvPr>
          <p:cNvSpPr>
            <a:spLocks noGrp="1"/>
          </p:cNvSpPr>
          <p:nvPr>
            <p:ph type="sldNum" sz="quarter" idx="12"/>
          </p:nvPr>
        </p:nvSpPr>
        <p:spPr/>
        <p:txBody>
          <a:bodyPr/>
          <a:lstStyle/>
          <a:p>
            <a:pPr>
              <a:defRPr/>
            </a:pPr>
            <a:fld id="{BCA26155-0DCC-45D2-90B6-32F65F3F6C0F}" type="slidenum">
              <a:rPr lang="en-US" smtClean="0"/>
              <a:pPr>
                <a:defRPr/>
              </a:pPr>
              <a:t>22</a:t>
            </a:fld>
            <a:endParaRPr lang="en-US"/>
          </a:p>
        </p:txBody>
      </p:sp>
      <p:pic>
        <p:nvPicPr>
          <p:cNvPr id="8" name="Picture 7">
            <a:extLst>
              <a:ext uri="{FF2B5EF4-FFF2-40B4-BE49-F238E27FC236}">
                <a16:creationId xmlns:a16="http://schemas.microsoft.com/office/drawing/2014/main" id="{C53F8D09-7B0F-FE17-F4E8-88E7777DBC82}"/>
              </a:ext>
            </a:extLst>
          </p:cNvPr>
          <p:cNvPicPr>
            <a:picLocks noChangeAspect="1"/>
          </p:cNvPicPr>
          <p:nvPr/>
        </p:nvPicPr>
        <p:blipFill>
          <a:blip r:embed="rId2"/>
          <a:stretch>
            <a:fillRect/>
          </a:stretch>
        </p:blipFill>
        <p:spPr>
          <a:xfrm>
            <a:off x="2769408" y="3583690"/>
            <a:ext cx="3038822" cy="988310"/>
          </a:xfrm>
          <a:prstGeom prst="rect">
            <a:avLst/>
          </a:prstGeom>
        </p:spPr>
      </p:pic>
      <p:pic>
        <p:nvPicPr>
          <p:cNvPr id="9" name="Picture 8">
            <a:extLst>
              <a:ext uri="{FF2B5EF4-FFF2-40B4-BE49-F238E27FC236}">
                <a16:creationId xmlns:a16="http://schemas.microsoft.com/office/drawing/2014/main" id="{A0995428-A0A3-8A0B-0A4F-A7A904EA7398}"/>
              </a:ext>
            </a:extLst>
          </p:cNvPr>
          <p:cNvPicPr>
            <a:picLocks noChangeAspect="1"/>
          </p:cNvPicPr>
          <p:nvPr/>
        </p:nvPicPr>
        <p:blipFill>
          <a:blip r:embed="rId3"/>
          <a:stretch>
            <a:fillRect/>
          </a:stretch>
        </p:blipFill>
        <p:spPr>
          <a:xfrm>
            <a:off x="3229363" y="2387599"/>
            <a:ext cx="1930466" cy="603945"/>
          </a:xfrm>
          <a:prstGeom prst="rect">
            <a:avLst/>
          </a:prstGeom>
        </p:spPr>
      </p:pic>
    </p:spTree>
    <p:extLst>
      <p:ext uri="{BB962C8B-B14F-4D97-AF65-F5344CB8AC3E}">
        <p14:creationId xmlns:p14="http://schemas.microsoft.com/office/powerpoint/2010/main" val="2838736927"/>
      </p:ext>
    </p:extLst>
  </p:cSld>
  <p:clrMapOvr>
    <a:masterClrMapping/>
  </p:clrMapOvr>
  <p:transition>
    <p:fade thruBlk="1"/>
  </p:transition>
</p:sld>
</file>

<file path=ppt/tags/tag1.xml><?xml version="1.0" encoding="utf-8"?>
<p:tagLst xmlns:a="http://schemas.openxmlformats.org/drawingml/2006/main" xmlns:r="http://schemas.openxmlformats.org/officeDocument/2006/relationships" xmlns:p="http://schemas.openxmlformats.org/presentationml/2006/main">
  <p:tag name="FIRSTPREBYS@7EJIGINFUVWYY57I" val="435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spDef>
      <a:spPr>
        <a:noFill/>
        <a:ln>
          <a:solidFill>
            <a:srgbClr val="FF0000"/>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rgbClr val="FF0000"/>
          </a:solidFill>
          <a:tailEnd type="arrow"/>
        </a:ln>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400" dirty="0" smtClean="0">
            <a:latin typeface="+mn-lt"/>
          </a:defRPr>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Clarity.thmx</Template>
  <TotalTime>31185</TotalTime>
  <Words>2424</Words>
  <Application>Microsoft Macintosh PowerPoint</Application>
  <PresentationFormat>On-screen Show (4:3)</PresentationFormat>
  <Paragraphs>302</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Times New Roman</vt:lpstr>
      <vt:lpstr>Symbol</vt:lpstr>
      <vt:lpstr>Clarity</vt:lpstr>
      <vt:lpstr>Lies, Damned Lies, and Statistics</vt:lpstr>
      <vt:lpstr>Errors and Significance</vt:lpstr>
      <vt:lpstr>Errors in Measurement</vt:lpstr>
      <vt:lpstr>The Role of Statistics</vt:lpstr>
      <vt:lpstr>When Probabilities Become “Certainties”</vt:lpstr>
      <vt:lpstr>Example Statistical Distributions</vt:lpstr>
      <vt:lpstr>Central Limit Theorem</vt:lpstr>
      <vt:lpstr>Understanding The Normal Distributions</vt:lpstr>
      <vt:lpstr>More Statistics -&gt; More Precision</vt:lpstr>
      <vt:lpstr>Why the House Always Wins</vt:lpstr>
      <vt:lpstr>Teachable Moment: Is Chocolate Good for You?</vt:lpstr>
      <vt:lpstr>Really?</vt:lpstr>
      <vt:lpstr>What they actually reported</vt:lpstr>
      <vt:lpstr>Additional Health Benefits of Chocolate</vt:lpstr>
      <vt:lpstr>How they did it…</vt:lpstr>
      <vt:lpstr>Card Demo</vt:lpstr>
      <vt:lpstr>Looking in too many places</vt:lpstr>
      <vt:lpstr>When it’s not on purpose and it’s not funny…</vt:lpstr>
      <vt:lpstr>The Problem with the Study</vt:lpstr>
      <vt:lpstr>But What About Later Studies?</vt:lpstr>
      <vt:lpstr>Statistical Errors vs. Systematic Errors</vt:lpstr>
      <vt:lpstr>Errors on Combined Results</vt:lpstr>
    </vt:vector>
  </TitlesOfParts>
  <Company>Fermilab Beams Division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Antiproton Stacking and Cooling</dc:title>
  <dc:creator>localadmin</dc:creator>
  <cp:lastModifiedBy>Eric J Prebys</cp:lastModifiedBy>
  <cp:revision>855</cp:revision>
  <cp:lastPrinted>2025-02-27T22:51:20Z</cp:lastPrinted>
  <dcterms:created xsi:type="dcterms:W3CDTF">2003-06-24T14:15:57Z</dcterms:created>
  <dcterms:modified xsi:type="dcterms:W3CDTF">2025-10-08T17:28:00Z</dcterms:modified>
</cp:coreProperties>
</file>