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8" r:id="rId1"/>
  </p:sldMasterIdLst>
  <p:notesMasterIdLst>
    <p:notesMasterId r:id="rId6"/>
  </p:notesMasterIdLst>
  <p:handoutMasterIdLst>
    <p:handoutMasterId r:id="rId7"/>
  </p:handoutMasterIdLst>
  <p:sldIdLst>
    <p:sldId id="300" r:id="rId2"/>
    <p:sldId id="301" r:id="rId3"/>
    <p:sldId id="302" r:id="rId4"/>
    <p:sldId id="303" r:id="rId5"/>
  </p:sldIdLst>
  <p:sldSz cx="9144000" cy="6858000" type="screen4x3"/>
  <p:notesSz cx="6935788" cy="9220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  <p15:guide id="3" pos="30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0000"/>
    <a:srgbClr val="E1F4FF"/>
    <a:srgbClr val="FF1F1F"/>
    <a:srgbClr val="CCECFF"/>
    <a:srgbClr val="FFCCCC"/>
    <a:srgbClr val="CC00CC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7" autoAdjust="0"/>
    <p:restoredTop sz="93333" autoAdjust="0"/>
  </p:normalViewPr>
  <p:slideViewPr>
    <p:cSldViewPr>
      <p:cViewPr varScale="1">
        <p:scale>
          <a:sx n="115" d="100"/>
          <a:sy n="115" d="100"/>
        </p:scale>
        <p:origin x="1216" y="192"/>
      </p:cViewPr>
      <p:guideLst>
        <p:guide orient="horz" pos="4319"/>
        <p:guide pos="5759"/>
        <p:guide pos="307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l" defTabSz="91122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b" anchorCtr="0" compatLnSpc="1">
            <a:prstTxWarp prst="textNoShape">
              <a:avLst/>
            </a:prstTxWarp>
          </a:bodyPr>
          <a:lstStyle>
            <a:lvl1pPr algn="l" defTabSz="91122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758238"/>
            <a:ext cx="30051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pPr>
              <a:defRPr/>
            </a:pPr>
            <a:fld id="{5BD52E21-EA46-4ACE-8358-D80ECA52F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503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l" defTabSz="91122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9063" y="0"/>
            <a:ext cx="30051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3638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8312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b" anchorCtr="0" compatLnSpc="1">
            <a:prstTxWarp prst="textNoShape">
              <a:avLst/>
            </a:prstTxWarp>
          </a:bodyPr>
          <a:lstStyle>
            <a:lvl1pPr algn="l" defTabSz="91122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9063" y="8758238"/>
            <a:ext cx="30051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pPr>
              <a:defRPr/>
            </a:pPr>
            <a:fld id="{9CF901A5-7D35-4E7B-AFDB-26D2413384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133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5109670" y="2699305"/>
            <a:ext cx="3603625" cy="76200"/>
            <a:chOff x="1463675" y="3525838"/>
            <a:chExt cx="6216650" cy="46037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1463675" y="3549650"/>
              <a:ext cx="2971800" cy="1588"/>
            </a:xfrm>
            <a:prstGeom prst="line">
              <a:avLst/>
            </a:prstGeom>
            <a:ln w="9525" cap="flat" cmpd="sng" algn="ctr">
              <a:solidFill>
                <a:schemeClr val="bg2">
                  <a:tint val="20000"/>
                </a:schemeClr>
              </a:solidFill>
              <a:prstDash val="solid"/>
            </a:ln>
            <a:effectLst>
              <a:outerShdw blurRad="31750" dir="2700000" algn="tl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>
              <a:off x="4708525" y="3549650"/>
              <a:ext cx="2971800" cy="1588"/>
            </a:xfrm>
            <a:prstGeom prst="line">
              <a:avLst/>
            </a:prstGeom>
            <a:ln w="9525" cap="flat" cmpd="sng" algn="ctr">
              <a:solidFill>
                <a:schemeClr val="bg2">
                  <a:tint val="20000"/>
                </a:schemeClr>
              </a:solidFill>
              <a:prstDash val="solid"/>
            </a:ln>
            <a:effectLst>
              <a:outerShdw blurRad="31750" dir="2700000" algn="tl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4540250" y="3525838"/>
              <a:ext cx="46038" cy="46037"/>
            </a:xfrm>
            <a:prstGeom prst="ellipse">
              <a:avLst/>
            </a:prstGeom>
            <a:effectLst>
              <a:outerShdw blurRad="31750" dir="2700000" algn="tl" rotWithShape="0">
                <a:srgbClr val="000000">
                  <a:alpha val="55000"/>
                </a:srgbClr>
              </a:outerShdw>
            </a:effectLst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071265" y="2852925"/>
            <a:ext cx="3657600" cy="1143000"/>
          </a:xfrm>
        </p:spPr>
        <p:txBody>
          <a:bodyPr>
            <a:noAutofit/>
          </a:bodyPr>
          <a:lstStyle>
            <a:lvl1pPr marL="0" indent="0" algn="l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5071265" y="202980"/>
            <a:ext cx="3657600" cy="2462432"/>
          </a:xfrm>
          <a:ln w="6350" cap="rnd">
            <a:noFill/>
          </a:ln>
        </p:spPr>
        <p:txBody>
          <a:bodyPr/>
          <a:lstStyle>
            <a:lvl1pPr algn="l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533B3-5490-44CD-B89C-CA80B2500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842682"/>
            <a:ext cx="8229600" cy="525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A356B-319B-4464-B0C8-0B3395D72F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85800" y="4916488"/>
            <a:ext cx="7924800" cy="4762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/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E645E1-90A1-4912-B12B-9A52EB980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860612"/>
            <a:ext cx="4059936" cy="5235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887506"/>
            <a:ext cx="4059936" cy="520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0EE1C-4331-404C-896E-BA47E84C3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63563" y="2179638"/>
            <a:ext cx="3748087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754563" y="2179638"/>
            <a:ext cx="3749675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D792-0866-4F2B-B91B-7BB1DB7C1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57312-FF8A-46D4-96EA-80FA0C7338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AE5BE-A1A9-43C8-BF7A-9F476107F4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B0AA36-DA90-407E-834C-EA05104A2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83ED25-4A2B-4DEB-A4DF-443842546A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477BA-C0FE-43DC-BA2C-B1D1819D0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8BF5F-4909-41A9-A8E1-E28425F1B7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869950"/>
            <a:ext cx="82296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950"/>
            <a:ext cx="2590800" cy="38417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950"/>
            <a:ext cx="3581400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725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ACACD27-BFAE-41B6-A036-A10C34E5DC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27063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121" r:id="rId1"/>
    <p:sldLayoutId id="2147484113" r:id="rId2"/>
    <p:sldLayoutId id="2147484122" r:id="rId3"/>
    <p:sldLayoutId id="2147484114" r:id="rId4"/>
    <p:sldLayoutId id="2147484123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transition spd="med">
    <p:fade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4000" kern="1200" spc="-10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9F9F9"/>
          </a:solidFill>
          <a:latin typeface="Constant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9F9F9"/>
          </a:solidFill>
          <a:latin typeface="Constant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9F9F9"/>
          </a:solidFill>
          <a:latin typeface="Constant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9F9F9"/>
          </a:solidFill>
          <a:latin typeface="Constant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F9F9F9"/>
          </a:solidFill>
          <a:latin typeface="Constant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F9F9F9"/>
          </a:solidFill>
          <a:latin typeface="Constant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F9F9F9"/>
          </a:solidFill>
          <a:latin typeface="Constant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F9F9F9"/>
          </a:solidFill>
          <a:latin typeface="Constantia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ts val="300"/>
        </a:spcBef>
        <a:spcAft>
          <a:spcPct val="0"/>
        </a:spcAft>
        <a:buClr>
          <a:srgbClr val="B37732"/>
        </a:buClr>
        <a:buSzPct val="85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ts val="338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148075" y="2814520"/>
            <a:ext cx="3657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Errors and Statistics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F533B3-5490-44CD-B89C-CA80B2500EC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Gravity and Light</a:t>
            </a:r>
          </a:p>
        </p:txBody>
      </p:sp>
      <p:pic>
        <p:nvPicPr>
          <p:cNvPr id="1026" name="Picture 2" descr="Shooting craps or rolling dice with bets on the table showing a seven Stock  Photo - Alamy">
            <a:extLst>
              <a:ext uri="{FF2B5EF4-FFF2-40B4-BE49-F238E27FC236}">
                <a16:creationId xmlns:a16="http://schemas.microsoft.com/office/drawing/2014/main" id="{F5466D03-2A2E-2712-A1E0-63C151758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95" y="471815"/>
            <a:ext cx="2524350" cy="269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re 5">
            <a:extLst>
              <a:ext uri="{FF2B5EF4-FFF2-40B4-BE49-F238E27FC236}">
                <a16:creationId xmlns:a16="http://schemas.microsoft.com/office/drawing/2014/main" id="{74268B6D-EC10-793D-B098-BFD0B0E44E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424260" y="3303235"/>
            <a:ext cx="4349750" cy="276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D5D76E-C037-CA0A-C386-7FDEA985E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Everything in science is a theory!</a:t>
            </a:r>
          </a:p>
          <a:p>
            <a:r>
              <a:rPr lang="en-US" sz="2400" dirty="0"/>
              <a:t>We only accept a theory to the extent that it has been verified by experiment.</a:t>
            </a:r>
          </a:p>
          <a:p>
            <a:r>
              <a:rPr lang="en-US" sz="2400" dirty="0"/>
              <a:t>Some theories have been verified to such a degree that we – tentatively! – accept them as “facts” or ”laws”. This include</a:t>
            </a:r>
          </a:p>
          <a:p>
            <a:pPr lvl="1"/>
            <a:r>
              <a:rPr lang="en-US" sz="2000" dirty="0"/>
              <a:t>Conservation of Energy</a:t>
            </a:r>
          </a:p>
          <a:p>
            <a:pPr lvl="1"/>
            <a:r>
              <a:rPr lang="en-US" sz="2000" dirty="0"/>
              <a:t>Special Relativity, including the speed of light as the limit to the speed of information transfer</a:t>
            </a:r>
          </a:p>
          <a:p>
            <a:pPr lvl="1"/>
            <a:r>
              <a:rPr lang="en-US" sz="2000" dirty="0"/>
              <a:t>Electricity and Magnetism</a:t>
            </a:r>
          </a:p>
          <a:p>
            <a:pPr lvl="1"/>
            <a:r>
              <a:rPr lang="en-US" sz="2000" dirty="0"/>
              <a:t>Yet even these are still tested.</a:t>
            </a:r>
          </a:p>
          <a:p>
            <a:r>
              <a:rPr lang="en-US" sz="2400" dirty="0"/>
              <a:t>In order to understand the significance of a particular result, we have to understand the errors associated with 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504168-B070-980E-E260-028890DC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and Significance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EA4B9-82F7-5F35-0D69-69C17C77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3C6F0-D318-165A-DD79-D9F26398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F7BE-C569-C40D-7C23-FA53B93A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A356B-319B-4464-B0C8-0B3395D72FC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7721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53445-357E-66EA-C7C1-721E648D3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Every measurement has an error associated with it.</a:t>
            </a:r>
          </a:p>
          <a:p>
            <a:r>
              <a:rPr lang="en-US" sz="2400" dirty="0"/>
              <a:t>In precision science, determining the error is quite often the hardest part of the job!</a:t>
            </a:r>
          </a:p>
          <a:p>
            <a:r>
              <a:rPr lang="en-US" sz="2400" dirty="0"/>
              <a:t>For example, the mass of the proton has been very well measured, and the current value is*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What does this mean?</a:t>
            </a:r>
          </a:p>
          <a:p>
            <a:r>
              <a:rPr lang="en-US" sz="2400" dirty="0"/>
              <a:t>Does it mean the ”true” value absolutely has to be within this range?</a:t>
            </a:r>
          </a:p>
          <a:p>
            <a:pPr lvl="1"/>
            <a:r>
              <a:rPr lang="en-US" sz="2200" dirty="0"/>
              <a:t>Short answer: no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789A17-29FE-4465-76D3-331141FD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in Measurement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4FDAC-C096-2841-1AAD-DB94A621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A5D6-944C-AD5F-FD65-90368206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2E219-DC1C-1767-209C-95561875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A356B-319B-4464-B0C8-0B3395D72FC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57B74F-D90A-4470-8F8A-3BC30DF4D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362" y="3121760"/>
            <a:ext cx="5584539" cy="2304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1A46EC-E573-781C-2882-D65EBC6FE870}"/>
              </a:ext>
            </a:extLst>
          </p:cNvPr>
          <p:cNvSpPr txBox="1"/>
          <p:nvPr/>
        </p:nvSpPr>
        <p:spPr>
          <a:xfrm>
            <a:off x="1162918" y="3522495"/>
            <a:ext cx="124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C5DB29-1F67-3641-3AF1-32EF535E0253}"/>
              </a:ext>
            </a:extLst>
          </p:cNvPr>
          <p:cNvCxnSpPr>
            <a:cxnSpLocks/>
          </p:cNvCxnSpPr>
          <p:nvPr/>
        </p:nvCxnSpPr>
        <p:spPr>
          <a:xfrm flipV="1">
            <a:off x="2114080" y="3390595"/>
            <a:ext cx="276205" cy="2688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0395CD-7033-2A90-EAB7-EE956C34355D}"/>
              </a:ext>
            </a:extLst>
          </p:cNvPr>
          <p:cNvCxnSpPr>
            <a:cxnSpLocks/>
          </p:cNvCxnSpPr>
          <p:nvPr/>
        </p:nvCxnSpPr>
        <p:spPr>
          <a:xfrm flipH="1" flipV="1">
            <a:off x="5558062" y="3420980"/>
            <a:ext cx="319708" cy="286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E850861-6F9B-251F-D191-CA3EF50653D2}"/>
              </a:ext>
            </a:extLst>
          </p:cNvPr>
          <p:cNvSpPr txBox="1"/>
          <p:nvPr/>
        </p:nvSpPr>
        <p:spPr>
          <a:xfrm>
            <a:off x="5254326" y="3707161"/>
            <a:ext cx="124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8A9812-FADE-C29C-8D02-181BAC661246}"/>
              </a:ext>
            </a:extLst>
          </p:cNvPr>
          <p:cNvSpPr txBox="1"/>
          <p:nvPr/>
        </p:nvSpPr>
        <p:spPr>
          <a:xfrm>
            <a:off x="6182545" y="5865396"/>
            <a:ext cx="22756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*https://</a:t>
            </a:r>
            <a:r>
              <a:rPr lang="en-US" sz="1600" dirty="0" err="1"/>
              <a:t>pdg.lbl.gov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84224192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D33BF8-8CCD-9007-0C55-0778E0FF7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Once upon a time, the universe was believed to be “deterministic”; that is, if we knew every particle’s position and trajectory, we could precisely predict everything that would happen in the future</a:t>
            </a:r>
          </a:p>
          <a:p>
            <a:pPr lvl="1"/>
            <a:r>
              <a:rPr lang="en-US" sz="2000" dirty="0"/>
              <a:t>Or work backwards to figure out everything that happened in the past.</a:t>
            </a:r>
          </a:p>
          <a:p>
            <a:r>
              <a:rPr lang="en-US" sz="2400" dirty="0"/>
              <a:t>They knew they could never do this in practice, so they invented a number of statistical tools for complex descriptions and predictions.</a:t>
            </a:r>
          </a:p>
          <a:p>
            <a:r>
              <a:rPr lang="en-US" sz="2400" dirty="0"/>
              <a:t>Following the discovery of quantum mechanics, we now know that nature behaves statistically at the the most fundamental level.</a:t>
            </a:r>
          </a:p>
          <a:p>
            <a:pPr lvl="1"/>
            <a:r>
              <a:rPr lang="en-US" sz="2200" dirty="0"/>
              <a:t>Not deterministic</a:t>
            </a:r>
          </a:p>
          <a:p>
            <a:pPr lvl="1"/>
            <a:r>
              <a:rPr lang="en-US" sz="2200" dirty="0"/>
              <a:t>Everything is described by </a:t>
            </a:r>
            <a:r>
              <a:rPr lang="en-US" sz="2200"/>
              <a:t>a probability.</a:t>
            </a:r>
            <a:endParaRPr lang="en-US" sz="22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1988DD-E720-994A-72D0-86A08537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Statistics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F15FC-FACC-1608-FEBD-0C54C5CD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FYS 003-009, Fall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0075B-7B66-5772-6C9E-AEBA7F51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Gravity and Light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FAE77-8983-8575-7047-5A4AA06C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A356B-319B-4464-B0C8-0B3395D72FC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7008"/>
      </p:ext>
    </p:extLst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18447</TotalTime>
  <Words>335</Words>
  <Application>Microsoft Macintosh PowerPoint</Application>
  <PresentationFormat>On-screen Show (4:3)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Constantia</vt:lpstr>
      <vt:lpstr>Wingdings 2</vt:lpstr>
      <vt:lpstr>Paper</vt:lpstr>
      <vt:lpstr>Errors and Statistics</vt:lpstr>
      <vt:lpstr>Errors and Significance</vt:lpstr>
      <vt:lpstr>Errors in Measurement</vt:lpstr>
      <vt:lpstr>The Role of Statistics</vt:lpstr>
    </vt:vector>
  </TitlesOfParts>
  <Company>Fermilab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PMG Slides</dc:title>
  <dc:creator>Pushpa Bhat</dc:creator>
  <cp:lastModifiedBy>Eric J Prebys</cp:lastModifiedBy>
  <cp:revision>1335</cp:revision>
  <dcterms:created xsi:type="dcterms:W3CDTF">2003-09-15T21:58:19Z</dcterms:created>
  <dcterms:modified xsi:type="dcterms:W3CDTF">2025-10-07T00:07:11Z</dcterms:modified>
</cp:coreProperties>
</file>